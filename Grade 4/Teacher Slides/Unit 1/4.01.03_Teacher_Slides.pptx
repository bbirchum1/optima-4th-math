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is defensible -- each shows a different-sized jump from the same starting number. Give a minute of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is defensible -- each shows a different-sized jump from the same starting number. Give a minute of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jump's size and which place-value digit it moves. This previews today's Key Concept: the size of the rule matches the place that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jump's size and which place-value digit it moves. This previews today's Key Concept: the size of the rule matches the place that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
Today we use place value to predict patterns instead of just building numbers.
Transition: "Let's see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Name the essential question. Today's big idea: the chart predicts the pattern.
Transition: "Let's warm up with a small skip-count."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the hundreds digit ticks 2,3,4,5,6 while everything else holds still.
Transition: "Now let's find a pattern hiding in stadium attendance."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Let students predict before confirming. Some will guess the rule right away; that's fine.
Transition: "Let's look closer at these three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Expect notices like 'they all end in 400' or 'the thousands digit went up by 1.'
Transition: "Let's watch exactly which digit ticks."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
Build the 'before' mat, then physically add ONE thousand disc to get 'after.' Every other column is untouched.
Transition: "Let's see the same idea across four different rules."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
The rule and the place-value name match exactly: +10 moves tens, +100 moves hundreds.
Transition: "Let's state the rule in general -- and what happens at a boundary."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A carry can make it LOOK like two digits changed for no reason -- but the rule never changed.
Transition: "Let's meet today's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(3 min)
'Term' and 'extend' are new labels for things students already do naturally -- listing numbers and continuing a pattern.
Transition: "Let's work an example with a carry built 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Felix's shortcut: subtract two terms to find the rule fast. Cora's check: verify on a second pair.
Common error: stopping after one match instead of confirming the rule on multiple pairs.
Transition: "Not every pattern adds the same amount each time -- some multiply."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
This is a genuine gap-closer -- the Independent Practice includes a doubling pattern, which today's Learn tab doesn't cover directly. Make sure students see that not all rules are additive.
Transition: "Your turn -- catch a mistake in someone else's reasoning."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
Riley is wrong -- the rule stayed +10 the whole time; the tens digit hitting 10 just carried into hundreds, making the jump LOOK bigger.
Anticipated error: agreeing with Riley because two digits visibly changed.
Transition: "What comes next in this unit?"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Preview: compare numbers by finding the leftmost place where two numbers differ.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Confirm students verified the rule on more than one pair, not just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Confirm students verified the rule on more than one pair, not just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Atlas = pattern people. Felix = checkers. Hazel = visual learners. Cora = vocabulary-builders.
Give real think time before calling on students to share which crew member's approach matches their own -- this is a chance for students to name their own strategy out loud, not just observe the crew's.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4.01.03 · Number Patterns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24,546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24,636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25,536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34,536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24,546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jump where the TENS digit changes -- it's the smallest jump, +10.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24,636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jump where the HUNDREDS digit changes -- a jump of +100.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25,536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jump where the THOUSANDS digit changes -- a jump of +1,000.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34,536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jump where the TEN-THOUSANDS digit changes -- it's the biggest jump, +10,000.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pattern's rule decides which place-value digit does the changing -- add 100, and the hundreds digit ticks up.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8,142 -&gt; 8,152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8,142 -&gt; 8,242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8,142 -&gt; 9,142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8,142 -&gt; 18,142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73352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4.01.03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Patterns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1: Numbers to 1,000,000 · U3 Apply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MA.4.AR.3.2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rule that connects each number in a pattern to the next, extend a pattern forward and backward, and explain which place-value digits change (and which stay still) when a pattern grows by a steady amount.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number grows by a steady amount, which digits change -- and which ones stay still? The place-value chart can tell you the answer before you do any of the work.”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Warm-Up: 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at 1,250. Count up by 100 each step: 1,250 -&gt; 1,350 -&gt; 1,450 -&gt; 1,550 -&gt; 1,650.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Which place-value digit changed every step?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What stayed exactly the same?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 to both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Growing Attendance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·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stadium tracks weekly attendance. Week 1: 27,400. Week 2: 28,400. Week 3: 29,400. The team is gaining fans every week.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004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is the rule, and what will Week 6 hit?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27,400  ·  28,400  ·  29,400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Watch the Digit That Ticks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676656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33856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1371600"/>
            <a:ext cx="676656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43584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9616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584" y="22128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9616" y="22128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47672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7672" y="1371600"/>
            <a:ext cx="676656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13432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22128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13432" y="22128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85416" y="24871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47672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61488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61488" y="1371600"/>
            <a:ext cx="676656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71216" y="193852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193852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9232" y="22128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61488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575304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75304" y="1371600"/>
            <a:ext cx="676656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85032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41064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85032" y="22128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41064" y="22128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85032" y="24871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41064" y="24871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75304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20040" y="594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Before: 24,536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1371600"/>
            <a:ext cx="676656" cy="36576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01768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57800" y="1938528"/>
            <a:ext cx="201168" cy="201168"/>
          </a:xfrm>
          <a:prstGeom prst="ellipse">
            <a:avLst/>
          </a:prstGeom>
          <a:solidFill>
            <a:srgbClr val="C43B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705856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05856" y="1371600"/>
            <a:ext cx="676656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05856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815584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71616" y="193852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15584" y="22128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71616" y="22128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0" y="248716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05856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519672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9672" y="1371600"/>
            <a:ext cx="676656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9672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29400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85432" y="193852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29400" y="22128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85432" y="22128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57416" y="24871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19672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333488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33488" y="1371600"/>
            <a:ext cx="676656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33488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443216" y="193852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99248" y="193852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71232" y="22128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33488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147304" y="1371600"/>
            <a:ext cx="676656" cy="23774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47304" y="1371600"/>
            <a:ext cx="676656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47304" y="13716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257032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13064" y="193852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57032" y="22128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13064" y="22128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57032" y="24871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513064" y="248716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47304" y="3383280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6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4892040" y="594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After +1,000: 25,536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407822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disc landed in the thousands column. Every other column stayed exactly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Place That Changes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Rule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Start -&gt;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41A"/>
                </a:solidFill>
              </a:rPr>
              <a:t>Which Digit Changed?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B"/>
                </a:solidFill>
              </a:rPr>
              <a:t>+10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13716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24,546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8F"/>
                </a:solidFill>
              </a:rPr>
              <a:t>Tens (3 -&gt;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848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B"/>
                </a:solidFill>
              </a:rPr>
              <a:t>+100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20240" y="20848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24,636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0848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8F"/>
                </a:solidFill>
              </a:rPr>
              <a:t>Hundreds (5 -&gt; 6)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980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B"/>
                </a:solidFill>
              </a:rPr>
              <a:t>+1,000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20240" y="279806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25,536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8F"/>
                </a:solidFill>
              </a:rPr>
              <a:t>Thousands (4 -&gt; 5)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11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B"/>
                </a:solidFill>
              </a:rPr>
              <a:t>+10,000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920240" y="35112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24,536 -&gt; 34,536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5112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D8F"/>
                </a:solidFill>
              </a:rPr>
              <a:t>Ten-thousands (2 -&gt; 3)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Rule (and the Carry)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lives in one place at a time. Add 1,000 -&gt; the thousands digit does the work. Everything else holds still.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29,400 + 1,000 = 30,400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digits changed here -- the 9 in thousands rolled to 0, and the 2 in ten-thousands ticked to 3. That's a carry. The rule is still +1,000.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109728" cy="1600200"/>
          </a:xfrm>
          <a:prstGeom prst="rect">
            <a:avLst/>
          </a:prstGeom>
          <a:solidFill>
            <a:srgbClr val="C43B6B"/>
          </a:solidFill>
          <a:ln w="12700">
            <a:solidFill>
              <a:srgbClr val="C43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pattern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list of numbers that follow a rule -- each number gives you a way to find the next 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60120"/>
            <a:ext cx="109728" cy="1600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rule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action that gets you from one term to the next, like "add 1,000" or "subtract 50."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109728" cy="160020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term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One number in a pattern. In 27,400 - 28,400 - 29,400, each number is a term.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697480"/>
            <a:ext cx="109728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</a:rPr>
              <a:t>extend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To use the rule to find the next term (or several next terms) in a pattern.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Season Ticket Sales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12,300. Week 2: 14,300. Week 3: 16,300. Find the rule, then predict Week 5.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12,300 -&gt; 14,300 -&gt; 16,300 -&gt; 18,300 -&gt; 20,300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+2,000 (check: 14,300 - 12,300 = 2,000). At 18,300 + 2,000, the 8 thousands + 2 thousands = 10 thousands -- carries to 2 ten-thousands. Still +2,000 the whole time.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Not Every Pattern Adds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Together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 -&gt;  150  -&gt;  300  -&gt;  600  -&gt;  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rule isn't 'add a steady amount' -- it's 'double every term.' 75 x 2 = 150. 150 x 2 = 300. 300 x 2 = 600. 600 x 2 = 1,200. Always test a rule on more than one pair before trusting it -- an adding rule and a doubling rule can look similar at first.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Turn: Find Riley's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Students Try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8,560 -&gt; 8,570 -&gt; 8,580 -&gt; 8,590 -&gt; 8,600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Riley says: "The rule is +10 at first, but it switches to +100 at the end." Is Riley right?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490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Riley right?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Comes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used place value to find the rule behind a pattern and watched the carry kick in. Next lesson, we'll use the same place-value thinking to compare numbers: which is bigger, 487,290 or 478,920?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13,200, 13,700, 14,200, 14,700 -- what is the rule?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+50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+500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+5,000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checked it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13,200, 13,700, 14,200, 14,700 -- what is the rule?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+50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+500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+5,000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13,700 - 13,200 = 500. Checked again: 14,200 - 13,700 = 500. Four matches confirm the rule: +500.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+ how you checked it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rule always matches a single place-value column -- until a carry happens. Then two columns change at once, but the rule underneath never actually changed.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rules by subtracting two neighboring terms. If 14,200 minus 13,700 equals 500, my rule guess of +500 just got checked -- and I check it again on a second pair to be sure.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pattern like a row of odometer wheels -- when one wheel rolls past 9, it flicks the wheel to its left forward by one. That's exactly what a carry looks like.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Here is the precise way to say it: a term is one number in the pattern, and the rule is the operation that produces the next term. Carrying changes which digits are visible -- it never changes the rule.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matches your thinking -- Felix or Hazel?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4.01.03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Find a real pattern (allowance, savings, a countdown) and describe its rule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Next class: use place value to compare and order big numbers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4.01.03 Number Patterns — Teacher Slides</dc:title>
  <dc:subject>PptxGenJS Presentation</dc:subject>
  <dc:creator>PptxGenJS</dc:creator>
  <cp:lastModifiedBy>PptxGenJS</cp:lastModifiedBy>
  <cp:revision>1</cp:revision>
  <dcterms:created xsi:type="dcterms:W3CDTF">2026-07-13T19:03:40Z</dcterms:created>
  <dcterms:modified xsi:type="dcterms:W3CDTF">2026-07-13T19:03:40Z</dcterms:modified>
</cp:coreProperties>
</file>