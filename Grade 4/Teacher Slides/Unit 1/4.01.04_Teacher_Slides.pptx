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estimates only -- no exact answers yet. Some will round, some will just eyeball leading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estimates only -- no exact answers yet. Some will round, some will just eyeball leading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estimate strategies agree here. This previews today's rule: the leftmost differing place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estimate strategies agree here. This previews today's rule: the leftmost differing place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(30 sec)
Last lesson: which digit changes when a number grows. Today: which digit decides when two numbers differ.
Transition: "Let's see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Name the essential question. Today's rule: walk left to right, stop at the first argument.
Transition: "Let's warm up with three quick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Answers: 8,253 &lt; 8,532 (hundreds 2&lt;5). 47,800 &gt; 47,080 (hundreds 8&gt;0). 62,500 = 62,500.
Transition: "Now let's compare two whole seasons of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Let students react -- the paper is WRONG. Team A actually had more fans.
Transition: "Let's look closer at these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Expect notices like 'same digits, different order' or 'they look almost identical.'
Transition: "Let's walk the chart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Green columns are tied, yellow columns show where digits differ. Walk left to right and stop at the first yellow column.
Transition: "Let's see when a shortcut can skip the chart-walk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Felix's digit-count shortcut only settles it when the counts differ. When they match, you need the chart-walk.
Transition: "Let's state the rule -- and note it also works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Ordering greatest-to-least is the identical rule, reversed. A missing-digit problem is just the rule applied by testing candidates.
Transition: "Let's meet today's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(3 min)
Cora's trick: the open end of &gt; or &lt; always points at the bigger number, like an alligator's mouth.
Transition: "Let's order four numbers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(4 min)
Use Felix's shortcut first to peel off the outlier, then chart-walk the rest.
Common error: forgetting to double check after finding the first arguing place.
Transition: "Let's catch a mistake in someone else's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Always count digits first. If they differ, you're done -- no chart-walk needed.
Transition: "Your turn -- pick the symbol for two very close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(4 min)
Both start 84,2... then tens: 5 vs 0. 84,250 &gt; 84,205.
Anticipated error: stopping at hundreds (2=2, tied) and guessing rather than continuing to tens.
Transition: "What comes next in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rounding gives a good round number when the exact one isn't needed.
Transition: "Let's check what you've got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Confirm students name the HUNDREDS place as the decider, not just the correct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Confirm students name the HUNDREDS place as the decider, not just the correct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Atlas = pattern people. Felix = checkers. Hazel = visual learners. Cora = vocabulary-builders.
Give real think time before calling on students to share which crew member's approach matches their own -- this is a chance for students to name their own strategy out loud, not just observe the crew's.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4.01.04 · Comparing Numbers</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Which is bigger:</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487,290 or 478,920?</a:t>
            </a:r>
            <a:endParaRPr lang="en-US" sz="34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Don't calculate exactly yet -- what's your best estimate?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Check the Estimate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274320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Round both</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487,290 rounds to 490,000</a:t>
            </a:r>
            <a:endParaRPr lang="en-US" sz="1200" dirty="0"/>
          </a:p>
        </p:txBody>
      </p:sp>
      <p:sp>
        <p:nvSpPr>
          <p:cNvPr id="10" name="Text 8"/>
          <p:cNvSpPr/>
          <p:nvPr/>
        </p:nvSpPr>
        <p:spPr>
          <a:xfrm>
            <a:off x="6858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478,920 rounds to 480,000</a:t>
            </a:r>
            <a:endParaRPr lang="en-US" sz="1200" dirty="0"/>
          </a:p>
        </p:txBody>
      </p:sp>
      <p:sp>
        <p:nvSpPr>
          <p:cNvPr id="11" name="Text 9"/>
          <p:cNvSpPr/>
          <p:nvPr/>
        </p:nvSpPr>
        <p:spPr>
          <a:xfrm>
            <a:off x="6858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490,000 &gt; 480,000</a:t>
            </a:r>
            <a:endParaRPr lang="en-US" sz="1200" dirty="0"/>
          </a:p>
        </p:txBody>
      </p:sp>
      <p:sp>
        <p:nvSpPr>
          <p:cNvPr id="12" name="Shape 10"/>
          <p:cNvSpPr/>
          <p:nvPr/>
        </p:nvSpPr>
        <p:spPr>
          <a:xfrm>
            <a:off x="3200400" y="960120"/>
            <a:ext cx="2560320" cy="274320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Count digits</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Text 13"/>
          <p:cNvSpPr/>
          <p:nvPr/>
        </p:nvSpPr>
        <p:spPr>
          <a:xfrm>
            <a:off x="34290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Both have 6 digits</a:t>
            </a:r>
            <a:endParaRPr lang="en-US" sz="1200" dirty="0"/>
          </a:p>
        </p:txBody>
      </p:sp>
      <p:sp>
        <p:nvSpPr>
          <p:cNvPr id="16" name="Text 14"/>
          <p:cNvSpPr/>
          <p:nvPr/>
        </p:nvSpPr>
        <p:spPr>
          <a:xfrm>
            <a:off x="34290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Tied -- need another way</a:t>
            </a:r>
            <a:endParaRPr lang="en-US" sz="1200" dirty="0"/>
          </a:p>
        </p:txBody>
      </p:sp>
      <p:sp>
        <p:nvSpPr>
          <p:cNvPr id="17" name="Shape 15"/>
          <p:cNvSpPr/>
          <p:nvPr/>
        </p:nvSpPr>
        <p:spPr>
          <a:xfrm>
            <a:off x="5943600" y="960120"/>
            <a:ext cx="2560320" cy="2743200"/>
          </a:xfrm>
          <a:prstGeom prst="roundRect">
            <a:avLst>
              <a:gd name="adj" fmla="val 3571"/>
            </a:avLst>
          </a:prstGeom>
          <a:solidFill>
            <a:srgbClr val="FFFFFF"/>
          </a:solidFill>
          <a:ln w="6350">
            <a:solidFill>
              <a:srgbClr val="DDDDEE"/>
            </a:solidFill>
            <a:prstDash val="solid"/>
          </a:ln>
        </p:spPr>
      </p:sp>
      <p:sp>
        <p:nvSpPr>
          <p:cNvPr id="18" name="Text 16"/>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Check leading digits</a:t>
            </a:r>
            <a:endParaRPr lang="en-US" sz="1300" dirty="0"/>
          </a:p>
        </p:txBody>
      </p:sp>
      <p:sp>
        <p:nvSpPr>
          <p:cNvPr id="19" name="Shape 17"/>
          <p:cNvSpPr/>
          <p:nvPr/>
        </p:nvSpPr>
        <p:spPr>
          <a:xfrm>
            <a:off x="6080760" y="1508760"/>
            <a:ext cx="2286000" cy="0"/>
          </a:xfrm>
          <a:prstGeom prst="line">
            <a:avLst/>
          </a:prstGeom>
          <a:noFill/>
          <a:ln w="6350">
            <a:solidFill>
              <a:srgbClr val="CCCCCC"/>
            </a:solidFill>
            <a:prstDash val="solid"/>
          </a:ln>
        </p:spPr>
      </p:sp>
      <p:sp>
        <p:nvSpPr>
          <p:cNvPr id="20" name="Text 18"/>
          <p:cNvSpPr/>
          <p:nvPr/>
        </p:nvSpPr>
        <p:spPr>
          <a:xfrm>
            <a:off x="61722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Both start with 4 (hundred-th.)</a:t>
            </a:r>
            <a:endParaRPr lang="en-US" sz="1200" dirty="0"/>
          </a:p>
        </p:txBody>
      </p:sp>
      <p:sp>
        <p:nvSpPr>
          <p:cNvPr id="21" name="Text 19"/>
          <p:cNvSpPr/>
          <p:nvPr/>
        </p:nvSpPr>
        <p:spPr>
          <a:xfrm>
            <a:off x="61722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Next digit: 8 vs 7</a:t>
            </a:r>
            <a:endParaRPr lang="en-US" sz="1200" dirty="0"/>
          </a:p>
        </p:txBody>
      </p:sp>
      <p:sp>
        <p:nvSpPr>
          <p:cNvPr id="22" name="Text 20"/>
          <p:cNvSpPr/>
          <p:nvPr/>
        </p:nvSpPr>
        <p:spPr>
          <a:xfrm>
            <a:off x="61722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8 &gt; 7</a:t>
            </a:r>
            <a:endParaRPr lang="en-US" sz="1200" dirty="0"/>
          </a:p>
        </p:txBody>
      </p:sp>
      <p:sp>
        <p:nvSpPr>
          <p:cNvPr id="23" name="Shape 21"/>
          <p:cNvSpPr/>
          <p:nvPr/>
        </p:nvSpPr>
        <p:spPr>
          <a:xfrm>
            <a:off x="457200" y="3794760"/>
            <a:ext cx="8229600" cy="457200"/>
          </a:xfrm>
          <a:prstGeom prst="roundRect">
            <a:avLst>
              <a:gd name="adj" fmla="val 16000"/>
            </a:avLst>
          </a:prstGeom>
          <a:solidFill>
            <a:srgbClr val="2E6E44"/>
          </a:solidFill>
          <a:ln w="12700">
            <a:solidFill>
              <a:srgbClr val="2E6E44"/>
            </a:solidFill>
            <a:prstDash val="solid"/>
          </a:ln>
        </p:spPr>
      </p:sp>
      <p:sp>
        <p:nvSpPr>
          <p:cNvPr id="24" name="Text 22"/>
          <p:cNvSpPr/>
          <p:nvPr/>
        </p:nvSpPr>
        <p:spPr>
          <a:xfrm>
            <a:off x="457200" y="379476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rPr>
              <a:t>Exact answer: 487,290 &gt; 478,920 -- the ten-thousands digit decides (8 &gt; 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When I compare two numbers, I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When two numbers have the same number of digits, compare left to right. The first place where the digits differ decides which number is bigger -- no matter what comes after it.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Which is bigger:</a:t>
            </a:r>
            <a:endParaRPr lang="en-US" sz="3200" dirty="0"/>
          </a:p>
          <a:p>
            <a:pPr algn="ctr" indent="0" marL="0">
              <a:buNone/>
            </a:pPr>
            <a:r>
              <a:rPr lang="en-US" sz="3200" b="1" dirty="0">
                <a:solidFill>
                  <a:srgbClr val="FFFFFF"/>
                </a:solidFill>
                <a:latin typeface="Cambria" pitchFamily="34" charset="0"/>
                <a:ea typeface="Cambria" pitchFamily="34" charset="-122"/>
                <a:cs typeface="Cambria" pitchFamily="34" charset="-120"/>
              </a:rPr>
              <a:t>305,000 or 350,000?</a:t>
            </a:r>
            <a:endParaRPr lang="en-US" sz="3200" dirty="0"/>
          </a:p>
        </p:txBody>
      </p:sp>
      <p:sp>
        <p:nvSpPr>
          <p:cNvPr id="8" name="Shape 6"/>
          <p:cNvSpPr/>
          <p:nvPr/>
        </p:nvSpPr>
        <p:spPr>
          <a:xfrm>
            <a:off x="1828800" y="379476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7947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estimate + exact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350,000 is bigger -- the ten-thousands digit is 5, not 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B2A4A"/>
          </a:solidFill>
          <a:ln w="12700">
            <a:solidFill>
              <a:srgbClr val="1B2A4A"/>
            </a:solidFill>
            <a:prstDash val="solid"/>
          </a:ln>
        </p:spPr>
      </p:sp>
      <p:sp>
        <p:nvSpPr>
          <p:cNvPr id="3" name="Shape 1"/>
          <p:cNvSpPr/>
          <p:nvPr/>
        </p:nvSpPr>
        <p:spPr>
          <a:xfrm>
            <a:off x="0" y="3474720"/>
            <a:ext cx="9144000" cy="1673352"/>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4.01.04</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Comparing and Ordering Numbers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 Numbers to 1,000,000 · U3 Apply</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MA.4.NSO.1.2</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compare two multi-digit numbers using &gt;, &lt;, or =; order a set of numbers from least to greatest (and back again); and explain how the leftmost differing place-value digit decides the comparison.</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“When two big numbers look almost the same, how do you decide which is bigger? Read left to right. The first place where the digits disagree is the place that decides.”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 Quick Compare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651760"/>
          </a:xfrm>
          <a:prstGeom prst="roundRect">
            <a:avLst>
              <a:gd name="adj" fmla="val 3448"/>
            </a:avLst>
          </a:prstGeom>
          <a:solidFill>
            <a:srgbClr val="FFFFFF"/>
          </a:solidFill>
          <a:ln w="6350">
            <a:solidFill>
              <a:srgbClr val="DDDDEE"/>
            </a:solidFill>
            <a:prstDash val="solid"/>
          </a:ln>
        </p:spPr>
      </p:sp>
      <p:sp>
        <p:nvSpPr>
          <p:cNvPr id="7" name="Text 5"/>
          <p:cNvSpPr/>
          <p:nvPr/>
        </p:nvSpPr>
        <p:spPr>
          <a:xfrm>
            <a:off x="685800" y="1051560"/>
            <a:ext cx="7772400" cy="246888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Tap the correct symbol (&gt;, &lt;, =) for each pair:</a:t>
            </a:r>
            <a:endParaRPr lang="en-US" sz="1600" dirty="0"/>
          </a:p>
          <a:p>
            <a:pPr indent="0" marL="0">
              <a:buNone/>
            </a:pPr>
            <a:endParaRPr lang="en-US" sz="1600" dirty="0"/>
          </a:p>
          <a:p>
            <a:pPr indent="0" marL="0">
              <a:buNone/>
            </a:pPr>
            <a:r>
              <a:rPr lang="en-US" sz="1600" dirty="0">
                <a:solidFill>
                  <a:srgbClr val="1A1A2E"/>
                </a:solidFill>
                <a:latin typeface="Cambria" pitchFamily="34" charset="0"/>
                <a:ea typeface="Cambria" pitchFamily="34" charset="-122"/>
                <a:cs typeface="Cambria" pitchFamily="34" charset="-120"/>
              </a:rPr>
              <a:t>1.  8,253  ___  8,532</a:t>
            </a:r>
            <a:endParaRPr lang="en-US" sz="1600" dirty="0"/>
          </a:p>
          <a:p>
            <a:pPr indent="0" marL="0">
              <a:buNone/>
            </a:pPr>
            <a:r>
              <a:rPr lang="en-US" sz="1600" dirty="0">
                <a:solidFill>
                  <a:srgbClr val="1A1A2E"/>
                </a:solidFill>
                <a:latin typeface="Cambria" pitchFamily="34" charset="0"/>
                <a:ea typeface="Cambria" pitchFamily="34" charset="-122"/>
                <a:cs typeface="Cambria" pitchFamily="34" charset="-120"/>
              </a:rPr>
              <a:t>2.  47,800  ___  47,080</a:t>
            </a:r>
            <a:endParaRPr lang="en-US" sz="1600" dirty="0"/>
          </a:p>
          <a:p>
            <a:pPr indent="0" marL="0">
              <a:buNone/>
            </a:pPr>
            <a:r>
              <a:rPr lang="en-US" sz="1600" dirty="0">
                <a:solidFill>
                  <a:srgbClr val="1A1A2E"/>
                </a:solidFill>
                <a:latin typeface="Cambria" pitchFamily="34" charset="0"/>
                <a:ea typeface="Cambria" pitchFamily="34" charset="-122"/>
                <a:cs typeface="Cambria" pitchFamily="34" charset="-120"/>
              </a:rPr>
              <a:t>3.  62,500  ___  62,500</a:t>
            </a:r>
            <a:endParaRPr lang="en-US" sz="1600" dirty="0"/>
          </a:p>
        </p:txBody>
      </p:sp>
      <p:sp>
        <p:nvSpPr>
          <p:cNvPr id="8" name="Shape 6"/>
          <p:cNvSpPr/>
          <p:nvPr/>
        </p:nvSpPr>
        <p:spPr>
          <a:xfrm>
            <a:off x="1371600" y="3794760"/>
            <a:ext cx="64008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371600" y="379476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three symbols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Was the Newspaper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 · Real World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920240"/>
          </a:xfrm>
          <a:prstGeom prst="roundRect">
            <a:avLst>
              <a:gd name="adj" fmla="val 4762"/>
            </a:avLst>
          </a:prstGeom>
          <a:solidFill>
            <a:srgbClr val="FFFFFF"/>
          </a:solidFill>
          <a:ln w="6350">
            <a:solidFill>
              <a:srgbClr val="DDDDEE"/>
            </a:solidFill>
            <a:prstDash val="solid"/>
          </a:ln>
        </p:spPr>
      </p:sp>
      <p:sp>
        <p:nvSpPr>
          <p:cNvPr id="7" name="Text 5"/>
          <p:cNvSpPr/>
          <p:nvPr/>
        </p:nvSpPr>
        <p:spPr>
          <a:xfrm>
            <a:off x="685800" y="1143000"/>
            <a:ext cx="7772400" cy="16459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Team A drew 487,290 fans across its season. Team B drew 478,920. The local paper printed: "Team B had a bigger season." Was the paper right?</a:t>
            </a:r>
            <a:endParaRPr lang="en-US" sz="1600" dirty="0"/>
          </a:p>
        </p:txBody>
      </p:sp>
      <p:sp>
        <p:nvSpPr>
          <p:cNvPr id="8" name="Shape 6"/>
          <p:cNvSpPr/>
          <p:nvPr/>
        </p:nvSpPr>
        <p:spPr>
          <a:xfrm>
            <a:off x="1097280" y="3200400"/>
            <a:ext cx="694944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097280" y="320040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was the paper right?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 · 2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487,290   vs   478,920</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Walk the Chart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685800" y="960120"/>
            <a:ext cx="1234440" cy="365760"/>
          </a:xfrm>
          <a:prstGeom prst="rect">
            <a:avLst/>
          </a:prstGeom>
          <a:solidFill>
            <a:srgbClr val="1A8A7D"/>
          </a:solidFill>
          <a:ln w="12700">
            <a:solidFill>
              <a:srgbClr val="1A8A7D"/>
            </a:solidFill>
            <a:prstDash val="solid"/>
          </a:ln>
        </p:spPr>
      </p:sp>
      <p:sp>
        <p:nvSpPr>
          <p:cNvPr id="7" name="Text 5"/>
          <p:cNvSpPr/>
          <p:nvPr/>
        </p:nvSpPr>
        <p:spPr>
          <a:xfrm>
            <a:off x="685800"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HT</a:t>
            </a:r>
            <a:endParaRPr lang="en-US" sz="1100" dirty="0"/>
          </a:p>
        </p:txBody>
      </p:sp>
      <p:sp>
        <p:nvSpPr>
          <p:cNvPr id="8" name="Shape 6"/>
          <p:cNvSpPr/>
          <p:nvPr/>
        </p:nvSpPr>
        <p:spPr>
          <a:xfrm>
            <a:off x="2029968" y="960120"/>
            <a:ext cx="1234440" cy="365760"/>
          </a:xfrm>
          <a:prstGeom prst="rect">
            <a:avLst/>
          </a:prstGeom>
          <a:solidFill>
            <a:srgbClr val="C43B6B"/>
          </a:solidFill>
          <a:ln w="12700">
            <a:solidFill>
              <a:srgbClr val="C43B6B"/>
            </a:solidFill>
            <a:prstDash val="solid"/>
          </a:ln>
        </p:spPr>
      </p:sp>
      <p:sp>
        <p:nvSpPr>
          <p:cNvPr id="9" name="Text 7"/>
          <p:cNvSpPr/>
          <p:nvPr/>
        </p:nvSpPr>
        <p:spPr>
          <a:xfrm>
            <a:off x="2029968"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TT</a:t>
            </a:r>
            <a:endParaRPr lang="en-US" sz="1100" dirty="0"/>
          </a:p>
        </p:txBody>
      </p:sp>
      <p:sp>
        <p:nvSpPr>
          <p:cNvPr id="10" name="Shape 8"/>
          <p:cNvSpPr/>
          <p:nvPr/>
        </p:nvSpPr>
        <p:spPr>
          <a:xfrm>
            <a:off x="3374136" y="960120"/>
            <a:ext cx="1234440" cy="365760"/>
          </a:xfrm>
          <a:prstGeom prst="rect">
            <a:avLst/>
          </a:prstGeom>
          <a:solidFill>
            <a:srgbClr val="6B3FA0"/>
          </a:solidFill>
          <a:ln w="12700">
            <a:solidFill>
              <a:srgbClr val="6B3FA0"/>
            </a:solidFill>
            <a:prstDash val="solid"/>
          </a:ln>
        </p:spPr>
      </p:sp>
      <p:sp>
        <p:nvSpPr>
          <p:cNvPr id="11" name="Text 9"/>
          <p:cNvSpPr/>
          <p:nvPr/>
        </p:nvSpPr>
        <p:spPr>
          <a:xfrm>
            <a:off x="3374136"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Th</a:t>
            </a:r>
            <a:endParaRPr lang="en-US" sz="1100" dirty="0"/>
          </a:p>
        </p:txBody>
      </p:sp>
      <p:sp>
        <p:nvSpPr>
          <p:cNvPr id="12" name="Shape 10"/>
          <p:cNvSpPr/>
          <p:nvPr/>
        </p:nvSpPr>
        <p:spPr>
          <a:xfrm>
            <a:off x="4718304" y="960120"/>
            <a:ext cx="1234440" cy="365760"/>
          </a:xfrm>
          <a:prstGeom prst="rect">
            <a:avLst/>
          </a:prstGeom>
          <a:solidFill>
            <a:srgbClr val="3A6B9A"/>
          </a:solidFill>
          <a:ln w="12700">
            <a:solidFill>
              <a:srgbClr val="3A6B9A"/>
            </a:solidFill>
            <a:prstDash val="solid"/>
          </a:ln>
        </p:spPr>
      </p:sp>
      <p:sp>
        <p:nvSpPr>
          <p:cNvPr id="13" name="Text 11"/>
          <p:cNvSpPr/>
          <p:nvPr/>
        </p:nvSpPr>
        <p:spPr>
          <a:xfrm>
            <a:off x="4718304"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14" name="Shape 12"/>
          <p:cNvSpPr/>
          <p:nvPr/>
        </p:nvSpPr>
        <p:spPr>
          <a:xfrm>
            <a:off x="6062472" y="960120"/>
            <a:ext cx="1234440" cy="365760"/>
          </a:xfrm>
          <a:prstGeom prst="rect">
            <a:avLst/>
          </a:prstGeom>
          <a:solidFill>
            <a:srgbClr val="2DB87A"/>
          </a:solidFill>
          <a:ln w="12700">
            <a:solidFill>
              <a:srgbClr val="2DB87A"/>
            </a:solidFill>
            <a:prstDash val="solid"/>
          </a:ln>
        </p:spPr>
      </p:sp>
      <p:sp>
        <p:nvSpPr>
          <p:cNvPr id="15" name="Text 13"/>
          <p:cNvSpPr/>
          <p:nvPr/>
        </p:nvSpPr>
        <p:spPr>
          <a:xfrm>
            <a:off x="6062472"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T</a:t>
            </a:r>
            <a:endParaRPr lang="en-US" sz="1100" dirty="0"/>
          </a:p>
        </p:txBody>
      </p:sp>
      <p:sp>
        <p:nvSpPr>
          <p:cNvPr id="16" name="Shape 14"/>
          <p:cNvSpPr/>
          <p:nvPr/>
        </p:nvSpPr>
        <p:spPr>
          <a:xfrm>
            <a:off x="7406640" y="960120"/>
            <a:ext cx="1234440" cy="365760"/>
          </a:xfrm>
          <a:prstGeom prst="rect">
            <a:avLst/>
          </a:prstGeom>
          <a:solidFill>
            <a:srgbClr val="E07B39"/>
          </a:solidFill>
          <a:ln w="12700">
            <a:solidFill>
              <a:srgbClr val="E07B39"/>
            </a:solidFill>
            <a:prstDash val="solid"/>
          </a:ln>
        </p:spPr>
      </p:sp>
      <p:sp>
        <p:nvSpPr>
          <p:cNvPr id="17" name="Text 15"/>
          <p:cNvSpPr/>
          <p:nvPr/>
        </p:nvSpPr>
        <p:spPr>
          <a:xfrm>
            <a:off x="7406640" y="96012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O</a:t>
            </a:r>
            <a:endParaRPr lang="en-US" sz="1100" dirty="0"/>
          </a:p>
        </p:txBody>
      </p:sp>
      <p:sp>
        <p:nvSpPr>
          <p:cNvPr id="18" name="Text 16"/>
          <p:cNvSpPr/>
          <p:nvPr/>
        </p:nvSpPr>
        <p:spPr>
          <a:xfrm>
            <a:off x="0" y="1417320"/>
            <a:ext cx="640080" cy="640080"/>
          </a:xfrm>
          <a:prstGeom prst="rect">
            <a:avLst/>
          </a:prstGeom>
          <a:noFill/>
          <a:ln/>
        </p:spPr>
        <p:txBody>
          <a:bodyPr wrap="square" lIns="0" tIns="0" rIns="0" bIns="0" rtlCol="0" anchor="ctr"/>
          <a:lstStyle/>
          <a:p>
            <a:pPr algn="r" indent="0" marL="0">
              <a:buNone/>
            </a:pPr>
            <a:r>
              <a:rPr lang="en-US" sz="1100" b="1" dirty="0">
                <a:solidFill>
                  <a:srgbClr val="1A1A2E"/>
                </a:solidFill>
              </a:rPr>
              <a:t>Team A</a:t>
            </a:r>
            <a:endParaRPr lang="en-US" sz="1100" dirty="0"/>
          </a:p>
        </p:txBody>
      </p:sp>
      <p:sp>
        <p:nvSpPr>
          <p:cNvPr id="19" name="Shape 17"/>
          <p:cNvSpPr/>
          <p:nvPr/>
        </p:nvSpPr>
        <p:spPr>
          <a:xfrm>
            <a:off x="685800" y="1417320"/>
            <a:ext cx="1234440" cy="640080"/>
          </a:xfrm>
          <a:prstGeom prst="roundRect">
            <a:avLst>
              <a:gd name="adj" fmla="val 14286"/>
            </a:avLst>
          </a:prstGeom>
          <a:solidFill>
            <a:srgbClr val="E6F2EA"/>
          </a:solidFill>
          <a:ln w="6350">
            <a:solidFill>
              <a:srgbClr val="DDDDEE"/>
            </a:solidFill>
            <a:prstDash val="solid"/>
          </a:ln>
        </p:spPr>
      </p:sp>
      <p:sp>
        <p:nvSpPr>
          <p:cNvPr id="20" name="Text 18"/>
          <p:cNvSpPr/>
          <p:nvPr/>
        </p:nvSpPr>
        <p:spPr>
          <a:xfrm>
            <a:off x="685800"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2029968" y="1417320"/>
            <a:ext cx="1234440" cy="640080"/>
          </a:xfrm>
          <a:prstGeom prst="roundRect">
            <a:avLst>
              <a:gd name="adj" fmla="val 14286"/>
            </a:avLst>
          </a:prstGeom>
          <a:solidFill>
            <a:srgbClr val="FEF6E4"/>
          </a:solidFill>
          <a:ln w="6350">
            <a:solidFill>
              <a:srgbClr val="DDDDEE"/>
            </a:solidFill>
            <a:prstDash val="solid"/>
          </a:ln>
        </p:spPr>
      </p:sp>
      <p:sp>
        <p:nvSpPr>
          <p:cNvPr id="22" name="Text 20"/>
          <p:cNvSpPr/>
          <p:nvPr/>
        </p:nvSpPr>
        <p:spPr>
          <a:xfrm>
            <a:off x="2029968"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8</a:t>
            </a:r>
            <a:endParaRPr lang="en-US" sz="2200" dirty="0"/>
          </a:p>
        </p:txBody>
      </p:sp>
      <p:sp>
        <p:nvSpPr>
          <p:cNvPr id="23" name="Shape 21"/>
          <p:cNvSpPr/>
          <p:nvPr/>
        </p:nvSpPr>
        <p:spPr>
          <a:xfrm>
            <a:off x="3374136" y="1417320"/>
            <a:ext cx="1234440" cy="640080"/>
          </a:xfrm>
          <a:prstGeom prst="roundRect">
            <a:avLst>
              <a:gd name="adj" fmla="val 14286"/>
            </a:avLst>
          </a:prstGeom>
          <a:solidFill>
            <a:srgbClr val="FEF6E4"/>
          </a:solidFill>
          <a:ln w="6350">
            <a:solidFill>
              <a:srgbClr val="DDDDEE"/>
            </a:solidFill>
            <a:prstDash val="solid"/>
          </a:ln>
        </p:spPr>
      </p:sp>
      <p:sp>
        <p:nvSpPr>
          <p:cNvPr id="24" name="Text 22"/>
          <p:cNvSpPr/>
          <p:nvPr/>
        </p:nvSpPr>
        <p:spPr>
          <a:xfrm>
            <a:off x="3374136"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7</a:t>
            </a:r>
            <a:endParaRPr lang="en-US" sz="2200" dirty="0"/>
          </a:p>
        </p:txBody>
      </p:sp>
      <p:sp>
        <p:nvSpPr>
          <p:cNvPr id="25" name="Shape 23"/>
          <p:cNvSpPr/>
          <p:nvPr/>
        </p:nvSpPr>
        <p:spPr>
          <a:xfrm>
            <a:off x="4718304" y="1417320"/>
            <a:ext cx="1234440" cy="640080"/>
          </a:xfrm>
          <a:prstGeom prst="roundRect">
            <a:avLst>
              <a:gd name="adj" fmla="val 14286"/>
            </a:avLst>
          </a:prstGeom>
          <a:solidFill>
            <a:srgbClr val="FEF6E4"/>
          </a:solidFill>
          <a:ln w="6350">
            <a:solidFill>
              <a:srgbClr val="DDDDEE"/>
            </a:solidFill>
            <a:prstDash val="solid"/>
          </a:ln>
        </p:spPr>
      </p:sp>
      <p:sp>
        <p:nvSpPr>
          <p:cNvPr id="26" name="Text 24"/>
          <p:cNvSpPr/>
          <p:nvPr/>
        </p:nvSpPr>
        <p:spPr>
          <a:xfrm>
            <a:off x="4718304"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2</a:t>
            </a:r>
            <a:endParaRPr lang="en-US" sz="2200" dirty="0"/>
          </a:p>
        </p:txBody>
      </p:sp>
      <p:sp>
        <p:nvSpPr>
          <p:cNvPr id="27" name="Shape 25"/>
          <p:cNvSpPr/>
          <p:nvPr/>
        </p:nvSpPr>
        <p:spPr>
          <a:xfrm>
            <a:off x="6062472" y="1417320"/>
            <a:ext cx="1234440" cy="640080"/>
          </a:xfrm>
          <a:prstGeom prst="roundRect">
            <a:avLst>
              <a:gd name="adj" fmla="val 14286"/>
            </a:avLst>
          </a:prstGeom>
          <a:solidFill>
            <a:srgbClr val="FEF6E4"/>
          </a:solidFill>
          <a:ln w="6350">
            <a:solidFill>
              <a:srgbClr val="DDDDEE"/>
            </a:solidFill>
            <a:prstDash val="solid"/>
          </a:ln>
        </p:spPr>
      </p:sp>
      <p:sp>
        <p:nvSpPr>
          <p:cNvPr id="28" name="Text 26"/>
          <p:cNvSpPr/>
          <p:nvPr/>
        </p:nvSpPr>
        <p:spPr>
          <a:xfrm>
            <a:off x="6062472"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9</a:t>
            </a:r>
            <a:endParaRPr lang="en-US" sz="2200" dirty="0"/>
          </a:p>
        </p:txBody>
      </p:sp>
      <p:sp>
        <p:nvSpPr>
          <p:cNvPr id="29" name="Shape 27"/>
          <p:cNvSpPr/>
          <p:nvPr/>
        </p:nvSpPr>
        <p:spPr>
          <a:xfrm>
            <a:off x="7406640" y="1417320"/>
            <a:ext cx="1234440" cy="640080"/>
          </a:xfrm>
          <a:prstGeom prst="roundRect">
            <a:avLst>
              <a:gd name="adj" fmla="val 14286"/>
            </a:avLst>
          </a:prstGeom>
          <a:solidFill>
            <a:srgbClr val="E6F2EA"/>
          </a:solidFill>
          <a:ln w="6350">
            <a:solidFill>
              <a:srgbClr val="DDDDEE"/>
            </a:solidFill>
            <a:prstDash val="solid"/>
          </a:ln>
        </p:spPr>
      </p:sp>
      <p:sp>
        <p:nvSpPr>
          <p:cNvPr id="30" name="Text 28"/>
          <p:cNvSpPr/>
          <p:nvPr/>
        </p:nvSpPr>
        <p:spPr>
          <a:xfrm>
            <a:off x="7406640" y="141732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0</a:t>
            </a:r>
            <a:endParaRPr lang="en-US" sz="2200" dirty="0"/>
          </a:p>
        </p:txBody>
      </p:sp>
      <p:sp>
        <p:nvSpPr>
          <p:cNvPr id="31" name="Text 29"/>
          <p:cNvSpPr/>
          <p:nvPr/>
        </p:nvSpPr>
        <p:spPr>
          <a:xfrm>
            <a:off x="0" y="2148840"/>
            <a:ext cx="640080" cy="640080"/>
          </a:xfrm>
          <a:prstGeom prst="rect">
            <a:avLst/>
          </a:prstGeom>
          <a:noFill/>
          <a:ln/>
        </p:spPr>
        <p:txBody>
          <a:bodyPr wrap="square" lIns="0" tIns="0" rIns="0" bIns="0" rtlCol="0" anchor="ctr"/>
          <a:lstStyle/>
          <a:p>
            <a:pPr algn="r" indent="0" marL="0">
              <a:buNone/>
            </a:pPr>
            <a:r>
              <a:rPr lang="en-US" sz="1100" b="1" dirty="0">
                <a:solidFill>
                  <a:srgbClr val="1A1A2E"/>
                </a:solidFill>
              </a:rPr>
              <a:t>Team B</a:t>
            </a:r>
            <a:endParaRPr lang="en-US" sz="1100" dirty="0"/>
          </a:p>
        </p:txBody>
      </p:sp>
      <p:sp>
        <p:nvSpPr>
          <p:cNvPr id="32" name="Shape 30"/>
          <p:cNvSpPr/>
          <p:nvPr/>
        </p:nvSpPr>
        <p:spPr>
          <a:xfrm>
            <a:off x="685800" y="2148840"/>
            <a:ext cx="1234440" cy="640080"/>
          </a:xfrm>
          <a:prstGeom prst="roundRect">
            <a:avLst>
              <a:gd name="adj" fmla="val 14286"/>
            </a:avLst>
          </a:prstGeom>
          <a:solidFill>
            <a:srgbClr val="E6F2EA"/>
          </a:solidFill>
          <a:ln w="6350">
            <a:solidFill>
              <a:srgbClr val="DDDDEE"/>
            </a:solidFill>
            <a:prstDash val="solid"/>
          </a:ln>
        </p:spPr>
      </p:sp>
      <p:sp>
        <p:nvSpPr>
          <p:cNvPr id="33" name="Text 31"/>
          <p:cNvSpPr/>
          <p:nvPr/>
        </p:nvSpPr>
        <p:spPr>
          <a:xfrm>
            <a:off x="685800"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4</a:t>
            </a:r>
            <a:endParaRPr lang="en-US" sz="2200" dirty="0"/>
          </a:p>
        </p:txBody>
      </p:sp>
      <p:sp>
        <p:nvSpPr>
          <p:cNvPr id="34" name="Shape 32"/>
          <p:cNvSpPr/>
          <p:nvPr/>
        </p:nvSpPr>
        <p:spPr>
          <a:xfrm>
            <a:off x="2029968" y="2148840"/>
            <a:ext cx="1234440" cy="640080"/>
          </a:xfrm>
          <a:prstGeom prst="roundRect">
            <a:avLst>
              <a:gd name="adj" fmla="val 14286"/>
            </a:avLst>
          </a:prstGeom>
          <a:solidFill>
            <a:srgbClr val="FEF6E4"/>
          </a:solidFill>
          <a:ln w="6350">
            <a:solidFill>
              <a:srgbClr val="DDDDEE"/>
            </a:solidFill>
            <a:prstDash val="solid"/>
          </a:ln>
        </p:spPr>
      </p:sp>
      <p:sp>
        <p:nvSpPr>
          <p:cNvPr id="35" name="Text 33"/>
          <p:cNvSpPr/>
          <p:nvPr/>
        </p:nvSpPr>
        <p:spPr>
          <a:xfrm>
            <a:off x="2029968"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7</a:t>
            </a:r>
            <a:endParaRPr lang="en-US" sz="2200" dirty="0"/>
          </a:p>
        </p:txBody>
      </p:sp>
      <p:sp>
        <p:nvSpPr>
          <p:cNvPr id="36" name="Shape 34"/>
          <p:cNvSpPr/>
          <p:nvPr/>
        </p:nvSpPr>
        <p:spPr>
          <a:xfrm>
            <a:off x="3374136" y="2148840"/>
            <a:ext cx="1234440" cy="640080"/>
          </a:xfrm>
          <a:prstGeom prst="roundRect">
            <a:avLst>
              <a:gd name="adj" fmla="val 14286"/>
            </a:avLst>
          </a:prstGeom>
          <a:solidFill>
            <a:srgbClr val="FEF6E4"/>
          </a:solidFill>
          <a:ln w="6350">
            <a:solidFill>
              <a:srgbClr val="DDDDEE"/>
            </a:solidFill>
            <a:prstDash val="solid"/>
          </a:ln>
        </p:spPr>
      </p:sp>
      <p:sp>
        <p:nvSpPr>
          <p:cNvPr id="37" name="Text 35"/>
          <p:cNvSpPr/>
          <p:nvPr/>
        </p:nvSpPr>
        <p:spPr>
          <a:xfrm>
            <a:off x="3374136"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8</a:t>
            </a:r>
            <a:endParaRPr lang="en-US" sz="2200" dirty="0"/>
          </a:p>
        </p:txBody>
      </p:sp>
      <p:sp>
        <p:nvSpPr>
          <p:cNvPr id="38" name="Shape 36"/>
          <p:cNvSpPr/>
          <p:nvPr/>
        </p:nvSpPr>
        <p:spPr>
          <a:xfrm>
            <a:off x="4718304" y="2148840"/>
            <a:ext cx="1234440" cy="640080"/>
          </a:xfrm>
          <a:prstGeom prst="roundRect">
            <a:avLst>
              <a:gd name="adj" fmla="val 14286"/>
            </a:avLst>
          </a:prstGeom>
          <a:solidFill>
            <a:srgbClr val="FEF6E4"/>
          </a:solidFill>
          <a:ln w="6350">
            <a:solidFill>
              <a:srgbClr val="DDDDEE"/>
            </a:solidFill>
            <a:prstDash val="solid"/>
          </a:ln>
        </p:spPr>
      </p:sp>
      <p:sp>
        <p:nvSpPr>
          <p:cNvPr id="39" name="Text 37"/>
          <p:cNvSpPr/>
          <p:nvPr/>
        </p:nvSpPr>
        <p:spPr>
          <a:xfrm>
            <a:off x="4718304"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9</a:t>
            </a:r>
            <a:endParaRPr lang="en-US" sz="2200" dirty="0"/>
          </a:p>
        </p:txBody>
      </p:sp>
      <p:sp>
        <p:nvSpPr>
          <p:cNvPr id="40" name="Shape 38"/>
          <p:cNvSpPr/>
          <p:nvPr/>
        </p:nvSpPr>
        <p:spPr>
          <a:xfrm>
            <a:off x="6062472" y="2148840"/>
            <a:ext cx="1234440" cy="640080"/>
          </a:xfrm>
          <a:prstGeom prst="roundRect">
            <a:avLst>
              <a:gd name="adj" fmla="val 14286"/>
            </a:avLst>
          </a:prstGeom>
          <a:solidFill>
            <a:srgbClr val="FEF6E4"/>
          </a:solidFill>
          <a:ln w="6350">
            <a:solidFill>
              <a:srgbClr val="DDDDEE"/>
            </a:solidFill>
            <a:prstDash val="solid"/>
          </a:ln>
        </p:spPr>
      </p:sp>
      <p:sp>
        <p:nvSpPr>
          <p:cNvPr id="41" name="Text 39"/>
          <p:cNvSpPr/>
          <p:nvPr/>
        </p:nvSpPr>
        <p:spPr>
          <a:xfrm>
            <a:off x="6062472"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2</a:t>
            </a:r>
            <a:endParaRPr lang="en-US" sz="2200" dirty="0"/>
          </a:p>
        </p:txBody>
      </p:sp>
      <p:sp>
        <p:nvSpPr>
          <p:cNvPr id="42" name="Shape 40"/>
          <p:cNvSpPr/>
          <p:nvPr/>
        </p:nvSpPr>
        <p:spPr>
          <a:xfrm>
            <a:off x="7406640" y="2148840"/>
            <a:ext cx="1234440" cy="640080"/>
          </a:xfrm>
          <a:prstGeom prst="roundRect">
            <a:avLst>
              <a:gd name="adj" fmla="val 14286"/>
            </a:avLst>
          </a:prstGeom>
          <a:solidFill>
            <a:srgbClr val="E6F2EA"/>
          </a:solidFill>
          <a:ln w="6350">
            <a:solidFill>
              <a:srgbClr val="DDDDEE"/>
            </a:solidFill>
            <a:prstDash val="solid"/>
          </a:ln>
        </p:spPr>
      </p:sp>
      <p:sp>
        <p:nvSpPr>
          <p:cNvPr id="43" name="Text 41"/>
          <p:cNvSpPr/>
          <p:nvPr/>
        </p:nvSpPr>
        <p:spPr>
          <a:xfrm>
            <a:off x="7406640" y="2148840"/>
            <a:ext cx="1234440" cy="64008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0</a:t>
            </a:r>
            <a:endParaRPr lang="en-US" sz="2200" dirty="0"/>
          </a:p>
        </p:txBody>
      </p:sp>
      <p:sp>
        <p:nvSpPr>
          <p:cNvPr id="44" name="Shape 42"/>
          <p:cNvSpPr/>
          <p:nvPr/>
        </p:nvSpPr>
        <p:spPr>
          <a:xfrm>
            <a:off x="457200" y="3063240"/>
            <a:ext cx="8229600" cy="1417320"/>
          </a:xfrm>
          <a:prstGeom prst="roundRect">
            <a:avLst>
              <a:gd name="adj" fmla="val 6452"/>
            </a:avLst>
          </a:prstGeom>
          <a:solidFill>
            <a:srgbClr val="EAE8F5"/>
          </a:solidFill>
          <a:ln w="6350">
            <a:solidFill>
              <a:srgbClr val="DDDDEE"/>
            </a:solidFill>
            <a:prstDash val="solid"/>
          </a:ln>
        </p:spPr>
      </p:sp>
      <p:sp>
        <p:nvSpPr>
          <p:cNvPr id="45" name="Text 43"/>
          <p:cNvSpPr/>
          <p:nvPr/>
        </p:nvSpPr>
        <p:spPr>
          <a:xfrm>
            <a:off x="640080" y="3136392"/>
            <a:ext cx="7863840" cy="1280160"/>
          </a:xfrm>
          <a:prstGeom prst="rect">
            <a:avLst/>
          </a:prstGeom>
          <a:noFill/>
          <a:ln/>
        </p:spPr>
        <p:txBody>
          <a:bodyPr wrap="square" lIns="0" tIns="0" rIns="0" bIns="0" rtlCol="0" anchor="ctr"/>
          <a:lstStyle/>
          <a:p>
            <a:pPr indent="0" marL="0">
              <a:buNone/>
            </a:pPr>
            <a:r>
              <a:rPr lang="en-US" sz="1400" dirty="0">
                <a:solidFill>
                  <a:srgbClr val="4A3D8F"/>
                </a:solidFill>
                <a:latin typeface="Cambria" pitchFamily="34" charset="0"/>
                <a:ea typeface="Cambria" pitchFamily="34" charset="-122"/>
                <a:cs typeface="Cambria" pitchFamily="34" charset="-120"/>
              </a:rPr>
              <a:t>Hundred-thousands: 4 = 4 (tied). Ten-thousands: 8 vs 7 -- first argument! 8 &gt; 7, so 487,290 &gt; 478,920. We never had to check thousands, hundreds, tens, or ones.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When the Shortcut Works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731520"/>
          </a:xfrm>
          <a:prstGeom prst="roundRect">
            <a:avLst>
              <a:gd name="adj" fmla="val 12500"/>
            </a:avLst>
          </a:prstGeom>
          <a:solidFill>
            <a:srgbClr val="E6F2EA"/>
          </a:solidFill>
          <a:ln w="6350">
            <a:solidFill>
              <a:srgbClr val="DDDDEE"/>
            </a:solidFill>
            <a:prstDash val="solid"/>
          </a:ln>
        </p:spPr>
      </p:sp>
      <p:sp>
        <p:nvSpPr>
          <p:cNvPr id="7" name="Text 5"/>
          <p:cNvSpPr/>
          <p:nvPr/>
        </p:nvSpPr>
        <p:spPr>
          <a:xfrm>
            <a:off x="640080" y="960120"/>
            <a:ext cx="301752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98,750 vs 102,000</a:t>
            </a:r>
            <a:endParaRPr lang="en-US" sz="1400" dirty="0"/>
          </a:p>
        </p:txBody>
      </p:sp>
      <p:sp>
        <p:nvSpPr>
          <p:cNvPr id="8" name="Text 6"/>
          <p:cNvSpPr/>
          <p:nvPr/>
        </p:nvSpPr>
        <p:spPr>
          <a:xfrm>
            <a:off x="3749040" y="960120"/>
            <a:ext cx="1920240" cy="731520"/>
          </a:xfrm>
          <a:prstGeom prst="rect">
            <a:avLst/>
          </a:prstGeom>
          <a:noFill/>
          <a:ln/>
        </p:spPr>
        <p:txBody>
          <a:bodyPr wrap="square" lIns="0" tIns="0" rIns="0" bIns="0" rtlCol="0" anchor="ctr"/>
          <a:lstStyle/>
          <a:p>
            <a:pPr indent="0" marL="0">
              <a:buNone/>
            </a:pPr>
            <a:r>
              <a:rPr lang="en-US" sz="1200" dirty="0">
                <a:solidFill>
                  <a:srgbClr val="5A5A7A"/>
                </a:solidFill>
              </a:rPr>
              <a:t>5 vs 6 digits</a:t>
            </a:r>
            <a:endParaRPr lang="en-US" sz="1200" dirty="0"/>
          </a:p>
        </p:txBody>
      </p:sp>
      <p:sp>
        <p:nvSpPr>
          <p:cNvPr id="9" name="Text 7"/>
          <p:cNvSpPr/>
          <p:nvPr/>
        </p:nvSpPr>
        <p:spPr>
          <a:xfrm>
            <a:off x="5760720" y="960120"/>
            <a:ext cx="2743200" cy="731520"/>
          </a:xfrm>
          <a:prstGeom prst="rect">
            <a:avLst/>
          </a:prstGeom>
          <a:noFill/>
          <a:ln/>
        </p:spPr>
        <p:txBody>
          <a:bodyPr wrap="square" lIns="0" tIns="0" rIns="0" bIns="0" rtlCol="0" anchor="ctr"/>
          <a:lstStyle/>
          <a:p>
            <a:pPr indent="0" marL="0">
              <a:buNone/>
            </a:pPr>
            <a:r>
              <a:rPr lang="en-US" sz="1200" b="1" dirty="0">
                <a:solidFill>
                  <a:srgbClr val="1A6B5A"/>
                </a:solidFill>
              </a:rPr>
              <a:t>YES -- 102,000 is bigger</a:t>
            </a:r>
            <a:endParaRPr lang="en-US" sz="1200" dirty="0"/>
          </a:p>
        </p:txBody>
      </p:sp>
      <p:sp>
        <p:nvSpPr>
          <p:cNvPr id="10" name="Shape 8"/>
          <p:cNvSpPr/>
          <p:nvPr/>
        </p:nvSpPr>
        <p:spPr>
          <a:xfrm>
            <a:off x="457200" y="1801368"/>
            <a:ext cx="8229600" cy="731520"/>
          </a:xfrm>
          <a:prstGeom prst="roundRect">
            <a:avLst>
              <a:gd name="adj" fmla="val 12500"/>
            </a:avLst>
          </a:prstGeom>
          <a:solidFill>
            <a:srgbClr val="FEF6E4"/>
          </a:solidFill>
          <a:ln w="6350">
            <a:solidFill>
              <a:srgbClr val="DDDDEE"/>
            </a:solidFill>
            <a:prstDash val="solid"/>
          </a:ln>
        </p:spPr>
      </p:sp>
      <p:sp>
        <p:nvSpPr>
          <p:cNvPr id="11" name="Text 9"/>
          <p:cNvSpPr/>
          <p:nvPr/>
        </p:nvSpPr>
        <p:spPr>
          <a:xfrm>
            <a:off x="640080" y="1801368"/>
            <a:ext cx="301752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487,290 vs 478,920</a:t>
            </a:r>
            <a:endParaRPr lang="en-US" sz="1400" dirty="0"/>
          </a:p>
        </p:txBody>
      </p:sp>
      <p:sp>
        <p:nvSpPr>
          <p:cNvPr id="12" name="Text 10"/>
          <p:cNvSpPr/>
          <p:nvPr/>
        </p:nvSpPr>
        <p:spPr>
          <a:xfrm>
            <a:off x="3749040" y="1801368"/>
            <a:ext cx="1920240" cy="731520"/>
          </a:xfrm>
          <a:prstGeom prst="rect">
            <a:avLst/>
          </a:prstGeom>
          <a:noFill/>
          <a:ln/>
        </p:spPr>
        <p:txBody>
          <a:bodyPr wrap="square" lIns="0" tIns="0" rIns="0" bIns="0" rtlCol="0" anchor="ctr"/>
          <a:lstStyle/>
          <a:p>
            <a:pPr indent="0" marL="0">
              <a:buNone/>
            </a:pPr>
            <a:r>
              <a:rPr lang="en-US" sz="1200" dirty="0">
                <a:solidFill>
                  <a:srgbClr val="5A5A7A"/>
                </a:solidFill>
              </a:rPr>
              <a:t>6 vs 6 digits</a:t>
            </a:r>
            <a:endParaRPr lang="en-US" sz="1200" dirty="0"/>
          </a:p>
        </p:txBody>
      </p:sp>
      <p:sp>
        <p:nvSpPr>
          <p:cNvPr id="13" name="Text 11"/>
          <p:cNvSpPr/>
          <p:nvPr/>
        </p:nvSpPr>
        <p:spPr>
          <a:xfrm>
            <a:off x="5760720" y="1801368"/>
            <a:ext cx="2743200" cy="731520"/>
          </a:xfrm>
          <a:prstGeom prst="rect">
            <a:avLst/>
          </a:prstGeom>
          <a:noFill/>
          <a:ln/>
        </p:spPr>
        <p:txBody>
          <a:bodyPr wrap="square" lIns="0" tIns="0" rIns="0" bIns="0" rtlCol="0" anchor="ctr"/>
          <a:lstStyle/>
          <a:p>
            <a:pPr indent="0" marL="0">
              <a:buNone/>
            </a:pPr>
            <a:r>
              <a:rPr lang="en-US" sz="1200" b="1" dirty="0">
                <a:solidFill>
                  <a:srgbClr val="8A4D1B"/>
                </a:solidFill>
              </a:rPr>
              <a:t>TIE -- Tie -- walk the chart</a:t>
            </a:r>
            <a:endParaRPr lang="en-US" sz="1200" dirty="0"/>
          </a:p>
        </p:txBody>
      </p:sp>
      <p:sp>
        <p:nvSpPr>
          <p:cNvPr id="14" name="Shape 12"/>
          <p:cNvSpPr/>
          <p:nvPr/>
        </p:nvSpPr>
        <p:spPr>
          <a:xfrm>
            <a:off x="457200" y="2642616"/>
            <a:ext cx="8229600" cy="731520"/>
          </a:xfrm>
          <a:prstGeom prst="roundRect">
            <a:avLst>
              <a:gd name="adj" fmla="val 12500"/>
            </a:avLst>
          </a:prstGeom>
          <a:solidFill>
            <a:srgbClr val="E6F2EA"/>
          </a:solidFill>
          <a:ln w="6350">
            <a:solidFill>
              <a:srgbClr val="DDDDEE"/>
            </a:solidFill>
            <a:prstDash val="solid"/>
          </a:ln>
        </p:spPr>
      </p:sp>
      <p:sp>
        <p:nvSpPr>
          <p:cNvPr id="15" name="Text 13"/>
          <p:cNvSpPr/>
          <p:nvPr/>
        </p:nvSpPr>
        <p:spPr>
          <a:xfrm>
            <a:off x="640080" y="2642616"/>
            <a:ext cx="301752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9,999 vs 10,000</a:t>
            </a:r>
            <a:endParaRPr lang="en-US" sz="1400" dirty="0"/>
          </a:p>
        </p:txBody>
      </p:sp>
      <p:sp>
        <p:nvSpPr>
          <p:cNvPr id="16" name="Text 14"/>
          <p:cNvSpPr/>
          <p:nvPr/>
        </p:nvSpPr>
        <p:spPr>
          <a:xfrm>
            <a:off x="3749040" y="2642616"/>
            <a:ext cx="1920240" cy="731520"/>
          </a:xfrm>
          <a:prstGeom prst="rect">
            <a:avLst/>
          </a:prstGeom>
          <a:noFill/>
          <a:ln/>
        </p:spPr>
        <p:txBody>
          <a:bodyPr wrap="square" lIns="0" tIns="0" rIns="0" bIns="0" rtlCol="0" anchor="ctr"/>
          <a:lstStyle/>
          <a:p>
            <a:pPr indent="0" marL="0">
              <a:buNone/>
            </a:pPr>
            <a:r>
              <a:rPr lang="en-US" sz="1200" dirty="0">
                <a:solidFill>
                  <a:srgbClr val="5A5A7A"/>
                </a:solidFill>
              </a:rPr>
              <a:t>4 vs 5 digits</a:t>
            </a:r>
            <a:endParaRPr lang="en-US" sz="1200" dirty="0"/>
          </a:p>
        </p:txBody>
      </p:sp>
      <p:sp>
        <p:nvSpPr>
          <p:cNvPr id="17" name="Text 15"/>
          <p:cNvSpPr/>
          <p:nvPr/>
        </p:nvSpPr>
        <p:spPr>
          <a:xfrm>
            <a:off x="5760720" y="2642616"/>
            <a:ext cx="2743200" cy="731520"/>
          </a:xfrm>
          <a:prstGeom prst="rect">
            <a:avLst/>
          </a:prstGeom>
          <a:noFill/>
          <a:ln/>
        </p:spPr>
        <p:txBody>
          <a:bodyPr wrap="square" lIns="0" tIns="0" rIns="0" bIns="0" rtlCol="0" anchor="ctr"/>
          <a:lstStyle/>
          <a:p>
            <a:pPr indent="0" marL="0">
              <a:buNone/>
            </a:pPr>
            <a:r>
              <a:rPr lang="en-US" sz="1200" b="1" dirty="0">
                <a:solidFill>
                  <a:srgbClr val="1A6B5A"/>
                </a:solidFill>
              </a:rPr>
              <a:t>YES -- 10,000 is bigger</a:t>
            </a:r>
            <a:endParaRPr lang="en-US" sz="1200" dirty="0"/>
          </a:p>
        </p:txBody>
      </p:sp>
      <p:sp>
        <p:nvSpPr>
          <p:cNvPr id="18" name="Shape 16"/>
          <p:cNvSpPr/>
          <p:nvPr/>
        </p:nvSpPr>
        <p:spPr>
          <a:xfrm>
            <a:off x="457200" y="3483864"/>
            <a:ext cx="8229600" cy="731520"/>
          </a:xfrm>
          <a:prstGeom prst="roundRect">
            <a:avLst>
              <a:gd name="adj" fmla="val 12500"/>
            </a:avLst>
          </a:prstGeom>
          <a:solidFill>
            <a:srgbClr val="FEF6E4"/>
          </a:solidFill>
          <a:ln w="6350">
            <a:solidFill>
              <a:srgbClr val="DDDDEE"/>
            </a:solidFill>
            <a:prstDash val="solid"/>
          </a:ln>
        </p:spPr>
      </p:sp>
      <p:sp>
        <p:nvSpPr>
          <p:cNvPr id="19" name="Text 17"/>
          <p:cNvSpPr/>
          <p:nvPr/>
        </p:nvSpPr>
        <p:spPr>
          <a:xfrm>
            <a:off x="640080" y="3483864"/>
            <a:ext cx="301752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63,402 vs 63,420</a:t>
            </a:r>
            <a:endParaRPr lang="en-US" sz="1400" dirty="0"/>
          </a:p>
        </p:txBody>
      </p:sp>
      <p:sp>
        <p:nvSpPr>
          <p:cNvPr id="20" name="Text 18"/>
          <p:cNvSpPr/>
          <p:nvPr/>
        </p:nvSpPr>
        <p:spPr>
          <a:xfrm>
            <a:off x="3749040" y="3483864"/>
            <a:ext cx="1920240" cy="731520"/>
          </a:xfrm>
          <a:prstGeom prst="rect">
            <a:avLst/>
          </a:prstGeom>
          <a:noFill/>
          <a:ln/>
        </p:spPr>
        <p:txBody>
          <a:bodyPr wrap="square" lIns="0" tIns="0" rIns="0" bIns="0" rtlCol="0" anchor="ctr"/>
          <a:lstStyle/>
          <a:p>
            <a:pPr indent="0" marL="0">
              <a:buNone/>
            </a:pPr>
            <a:r>
              <a:rPr lang="en-US" sz="1200" dirty="0">
                <a:solidFill>
                  <a:srgbClr val="5A5A7A"/>
                </a:solidFill>
              </a:rPr>
              <a:t>5 vs 5 digits</a:t>
            </a:r>
            <a:endParaRPr lang="en-US" sz="1200" dirty="0"/>
          </a:p>
        </p:txBody>
      </p:sp>
      <p:sp>
        <p:nvSpPr>
          <p:cNvPr id="21" name="Text 19"/>
          <p:cNvSpPr/>
          <p:nvPr/>
        </p:nvSpPr>
        <p:spPr>
          <a:xfrm>
            <a:off x="5760720" y="3483864"/>
            <a:ext cx="2743200" cy="731520"/>
          </a:xfrm>
          <a:prstGeom prst="rect">
            <a:avLst/>
          </a:prstGeom>
          <a:noFill/>
          <a:ln/>
        </p:spPr>
        <p:txBody>
          <a:bodyPr wrap="square" lIns="0" tIns="0" rIns="0" bIns="0" rtlCol="0" anchor="ctr"/>
          <a:lstStyle/>
          <a:p>
            <a:pPr indent="0" marL="0">
              <a:buNone/>
            </a:pPr>
            <a:r>
              <a:rPr lang="en-US" sz="1200" b="1" dirty="0">
                <a:solidFill>
                  <a:srgbClr val="8A4D1B"/>
                </a:solidFill>
              </a:rPr>
              <a:t>TIE -- Tie -- walk the chart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97280"/>
            <a:ext cx="7772400" cy="118872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If digit counts differ, more digits = bigger number. If counts match, walk left to right -- the first place that differs decides.</a:t>
            </a:r>
            <a:endParaRPr lang="en-US" sz="1600" dirty="0"/>
          </a:p>
        </p:txBody>
      </p:sp>
      <p:sp>
        <p:nvSpPr>
          <p:cNvPr id="8" name="Shape 6"/>
          <p:cNvSpPr/>
          <p:nvPr/>
        </p:nvSpPr>
        <p:spPr>
          <a:xfrm>
            <a:off x="457200" y="2514600"/>
            <a:ext cx="8229600" cy="1691640"/>
          </a:xfrm>
          <a:prstGeom prst="roundRect">
            <a:avLst>
              <a:gd name="adj" fmla="val 5405"/>
            </a:avLst>
          </a:prstGeom>
          <a:solidFill>
            <a:srgbClr val="FEF6E4"/>
          </a:solidFill>
          <a:ln w="6350">
            <a:solidFill>
              <a:srgbClr val="DDDDEE"/>
            </a:solidFill>
            <a:prstDash val="solid"/>
          </a:ln>
        </p:spPr>
      </p:sp>
      <p:sp>
        <p:nvSpPr>
          <p:cNvPr id="9" name="Text 7"/>
          <p:cNvSpPr/>
          <p:nvPr/>
        </p:nvSpPr>
        <p:spPr>
          <a:xfrm>
            <a:off x="640080" y="2606040"/>
            <a:ext cx="7863840" cy="1508760"/>
          </a:xfrm>
          <a:prstGeom prst="rect">
            <a:avLst/>
          </a:prstGeom>
          <a:noFill/>
          <a:ln/>
        </p:spPr>
        <p:txBody>
          <a:bodyPr wrap="square" lIns="0" tIns="0" rIns="0" bIns="0" rtlCol="0" anchor="ctr"/>
          <a:lstStyle/>
          <a:p>
            <a:pPr indent="0" marL="0">
              <a:buNone/>
            </a:pPr>
            <a:r>
              <a:rPr lang="en-US" sz="1300" dirty="0">
                <a:solidFill>
                  <a:srgbClr val="5A4A00"/>
                </a:solidFill>
                <a:latin typeface="Cambria" pitchFamily="34" charset="0"/>
                <a:ea typeface="Cambria" pitchFamily="34" charset="-122"/>
                <a:cs typeface="Cambria" pitchFamily="34" charset="-120"/>
              </a:rPr>
              <a:t>This same rule runs both directions: least to greatest, or greatest to least -- just read the chain the other way. And for a "missing digit" problem like 47,8__2 &lt; 47,852, try each digit 0-9 in the blank and check which ones keep the comparison true.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4023360" cy="1600200"/>
          </a:xfrm>
          <a:prstGeom prst="roundRect">
            <a:avLst>
              <a:gd name="adj" fmla="val 5714"/>
            </a:avLst>
          </a:prstGeom>
          <a:solidFill>
            <a:srgbClr val="FFFFFF"/>
          </a:solidFill>
          <a:ln w="6350">
            <a:solidFill>
              <a:srgbClr val="DDDDEE"/>
            </a:solidFill>
            <a:prstDash val="solid"/>
          </a:ln>
        </p:spPr>
      </p:sp>
      <p:sp>
        <p:nvSpPr>
          <p:cNvPr id="7" name="Shape 5"/>
          <p:cNvSpPr/>
          <p:nvPr/>
        </p:nvSpPr>
        <p:spPr>
          <a:xfrm>
            <a:off x="457200" y="960120"/>
            <a:ext cx="109728" cy="1600200"/>
          </a:xfrm>
          <a:prstGeom prst="rect">
            <a:avLst/>
          </a:prstGeom>
          <a:solidFill>
            <a:srgbClr val="C43B6B"/>
          </a:solidFill>
          <a:ln w="12700">
            <a:solidFill>
              <a:srgbClr val="C43B6B"/>
            </a:solidFill>
            <a:prstDash val="solid"/>
          </a:ln>
        </p:spPr>
      </p:sp>
      <p:sp>
        <p:nvSpPr>
          <p:cNvPr id="8" name="Text 6"/>
          <p:cNvSpPr/>
          <p:nvPr/>
        </p:nvSpPr>
        <p:spPr>
          <a:xfrm>
            <a:off x="731520" y="1051560"/>
            <a:ext cx="3566160" cy="365760"/>
          </a:xfrm>
          <a:prstGeom prst="rect">
            <a:avLst/>
          </a:prstGeom>
          <a:noFill/>
          <a:ln/>
        </p:spPr>
        <p:txBody>
          <a:bodyPr wrap="square" lIns="0" tIns="0" rIns="0" bIns="0" rtlCol="0" anchor="ctr"/>
          <a:lstStyle/>
          <a:p>
            <a:pPr indent="0" marL="0">
              <a:buNone/>
            </a:pPr>
            <a:r>
              <a:rPr lang="en-US" sz="1500" b="1" dirty="0">
                <a:solidFill>
                  <a:srgbClr val="4A3D8F"/>
                </a:solidFill>
              </a:rPr>
              <a:t>greater than (&gt;)</a:t>
            </a:r>
            <a:endParaRPr lang="en-US" sz="1500" dirty="0"/>
          </a:p>
        </p:txBody>
      </p:sp>
      <p:sp>
        <p:nvSpPr>
          <p:cNvPr id="9" name="Text 7"/>
          <p:cNvSpPr/>
          <p:nvPr/>
        </p:nvSpPr>
        <p:spPr>
          <a:xfrm>
            <a:off x="731520" y="1463040"/>
            <a:ext cx="3566160" cy="960120"/>
          </a:xfrm>
          <a:prstGeom prst="rect">
            <a:avLst/>
          </a:prstGeom>
          <a:noFill/>
          <a:ln/>
        </p:spPr>
        <p:txBody>
          <a:bodyPr wrap="square" lIns="0" tIns="0" rIns="0" bIns="0" rtlCol="0" anchor="ctr"/>
          <a:lstStyle/>
          <a:p>
            <a:pPr indent="0" marL="0">
              <a:buNone/>
            </a:pPr>
            <a:r>
              <a:rPr lang="en-US" sz="1200" dirty="0">
                <a:solidFill>
                  <a:srgbClr val="1A1A2E"/>
                </a:solidFill>
              </a:rPr>
              <a:t>A symbol showing the first number is bigger than the second. The open end points at the bigger number.</a:t>
            </a:r>
            <a:endParaRPr lang="en-US" sz="1200" dirty="0"/>
          </a:p>
        </p:txBody>
      </p:sp>
      <p:sp>
        <p:nvSpPr>
          <p:cNvPr id="10" name="Shape 8"/>
          <p:cNvSpPr/>
          <p:nvPr/>
        </p:nvSpPr>
        <p:spPr>
          <a:xfrm>
            <a:off x="4663440" y="960120"/>
            <a:ext cx="4023360" cy="1600200"/>
          </a:xfrm>
          <a:prstGeom prst="roundRect">
            <a:avLst>
              <a:gd name="adj" fmla="val 5714"/>
            </a:avLst>
          </a:prstGeom>
          <a:solidFill>
            <a:srgbClr val="FFFFFF"/>
          </a:solidFill>
          <a:ln w="6350">
            <a:solidFill>
              <a:srgbClr val="DDDDEE"/>
            </a:solidFill>
            <a:prstDash val="solid"/>
          </a:ln>
        </p:spPr>
      </p:sp>
      <p:sp>
        <p:nvSpPr>
          <p:cNvPr id="11" name="Shape 9"/>
          <p:cNvSpPr/>
          <p:nvPr/>
        </p:nvSpPr>
        <p:spPr>
          <a:xfrm>
            <a:off x="4663440" y="960120"/>
            <a:ext cx="109728" cy="1600200"/>
          </a:xfrm>
          <a:prstGeom prst="rect">
            <a:avLst/>
          </a:prstGeom>
          <a:solidFill>
            <a:srgbClr val="6B3FA0"/>
          </a:solidFill>
          <a:ln w="12700">
            <a:solidFill>
              <a:srgbClr val="6B3FA0"/>
            </a:solidFill>
            <a:prstDash val="solid"/>
          </a:ln>
        </p:spPr>
      </p:sp>
      <p:sp>
        <p:nvSpPr>
          <p:cNvPr id="12" name="Text 10"/>
          <p:cNvSpPr/>
          <p:nvPr/>
        </p:nvSpPr>
        <p:spPr>
          <a:xfrm>
            <a:off x="4937760" y="1051560"/>
            <a:ext cx="3566160" cy="365760"/>
          </a:xfrm>
          <a:prstGeom prst="rect">
            <a:avLst/>
          </a:prstGeom>
          <a:noFill/>
          <a:ln/>
        </p:spPr>
        <p:txBody>
          <a:bodyPr wrap="square" lIns="0" tIns="0" rIns="0" bIns="0" rtlCol="0" anchor="ctr"/>
          <a:lstStyle/>
          <a:p>
            <a:pPr indent="0" marL="0">
              <a:buNone/>
            </a:pPr>
            <a:r>
              <a:rPr lang="en-US" sz="1500" b="1" dirty="0">
                <a:solidFill>
                  <a:srgbClr val="4A3D8F"/>
                </a:solidFill>
              </a:rPr>
              <a:t>less than (&lt;)</a:t>
            </a:r>
            <a:endParaRPr lang="en-US" sz="1500" dirty="0"/>
          </a:p>
        </p:txBody>
      </p:sp>
      <p:sp>
        <p:nvSpPr>
          <p:cNvPr id="13" name="Text 11"/>
          <p:cNvSpPr/>
          <p:nvPr/>
        </p:nvSpPr>
        <p:spPr>
          <a:xfrm>
            <a:off x="4937760" y="1463040"/>
            <a:ext cx="3566160" cy="960120"/>
          </a:xfrm>
          <a:prstGeom prst="rect">
            <a:avLst/>
          </a:prstGeom>
          <a:noFill/>
          <a:ln/>
        </p:spPr>
        <p:txBody>
          <a:bodyPr wrap="square" lIns="0" tIns="0" rIns="0" bIns="0" rtlCol="0" anchor="ctr"/>
          <a:lstStyle/>
          <a:p>
            <a:pPr indent="0" marL="0">
              <a:buNone/>
            </a:pPr>
            <a:r>
              <a:rPr lang="en-US" sz="1200" dirty="0">
                <a:solidFill>
                  <a:srgbClr val="1A1A2E"/>
                </a:solidFill>
              </a:rPr>
              <a:t>A symbol showing the first number is smaller than the second. The open end still points at the bigger number.</a:t>
            </a:r>
            <a:endParaRPr lang="en-US" sz="1200" dirty="0"/>
          </a:p>
        </p:txBody>
      </p:sp>
      <p:sp>
        <p:nvSpPr>
          <p:cNvPr id="14" name="Shape 12"/>
          <p:cNvSpPr/>
          <p:nvPr/>
        </p:nvSpPr>
        <p:spPr>
          <a:xfrm>
            <a:off x="457200" y="2697480"/>
            <a:ext cx="4023360" cy="1600200"/>
          </a:xfrm>
          <a:prstGeom prst="roundRect">
            <a:avLst>
              <a:gd name="adj" fmla="val 5714"/>
            </a:avLst>
          </a:prstGeom>
          <a:solidFill>
            <a:srgbClr val="FFFFFF"/>
          </a:solidFill>
          <a:ln w="6350">
            <a:solidFill>
              <a:srgbClr val="DDDDEE"/>
            </a:solidFill>
            <a:prstDash val="solid"/>
          </a:ln>
        </p:spPr>
      </p:sp>
      <p:sp>
        <p:nvSpPr>
          <p:cNvPr id="15" name="Shape 13"/>
          <p:cNvSpPr/>
          <p:nvPr/>
        </p:nvSpPr>
        <p:spPr>
          <a:xfrm>
            <a:off x="457200" y="2697480"/>
            <a:ext cx="109728" cy="1600200"/>
          </a:xfrm>
          <a:prstGeom prst="rect">
            <a:avLst/>
          </a:prstGeom>
          <a:solidFill>
            <a:srgbClr val="2DB87A"/>
          </a:solidFill>
          <a:ln w="12700">
            <a:solidFill>
              <a:srgbClr val="2DB87A"/>
            </a:solidFill>
            <a:prstDash val="solid"/>
          </a:ln>
        </p:spPr>
      </p:sp>
      <p:sp>
        <p:nvSpPr>
          <p:cNvPr id="16" name="Text 14"/>
          <p:cNvSpPr/>
          <p:nvPr/>
        </p:nvSpPr>
        <p:spPr>
          <a:xfrm>
            <a:off x="731520" y="2788920"/>
            <a:ext cx="3566160" cy="365760"/>
          </a:xfrm>
          <a:prstGeom prst="rect">
            <a:avLst/>
          </a:prstGeom>
          <a:noFill/>
          <a:ln/>
        </p:spPr>
        <p:txBody>
          <a:bodyPr wrap="square" lIns="0" tIns="0" rIns="0" bIns="0" rtlCol="0" anchor="ctr"/>
          <a:lstStyle/>
          <a:p>
            <a:pPr indent="0" marL="0">
              <a:buNone/>
            </a:pPr>
            <a:r>
              <a:rPr lang="en-US" sz="1500" b="1" dirty="0">
                <a:solidFill>
                  <a:srgbClr val="4A3D8F"/>
                </a:solidFill>
              </a:rPr>
              <a:t>compare</a:t>
            </a:r>
            <a:endParaRPr lang="en-US" sz="1500" dirty="0"/>
          </a:p>
        </p:txBody>
      </p:sp>
      <p:sp>
        <p:nvSpPr>
          <p:cNvPr id="17" name="Text 15"/>
          <p:cNvSpPr/>
          <p:nvPr/>
        </p:nvSpPr>
        <p:spPr>
          <a:xfrm>
            <a:off x="731520" y="3200400"/>
            <a:ext cx="3566160" cy="960120"/>
          </a:xfrm>
          <a:prstGeom prst="rect">
            <a:avLst/>
          </a:prstGeom>
          <a:noFill/>
          <a:ln/>
        </p:spPr>
        <p:txBody>
          <a:bodyPr wrap="square" lIns="0" tIns="0" rIns="0" bIns="0" rtlCol="0" anchor="ctr"/>
          <a:lstStyle/>
          <a:p>
            <a:pPr indent="0" marL="0">
              <a:buNone/>
            </a:pPr>
            <a:r>
              <a:rPr lang="en-US" sz="1200" dirty="0">
                <a:solidFill>
                  <a:srgbClr val="1A1A2E"/>
                </a:solidFill>
              </a:rPr>
              <a:t>To decide whether one number is greater than, less than, or equal to another.</a:t>
            </a:r>
            <a:endParaRPr lang="en-US" sz="1200" dirty="0"/>
          </a:p>
        </p:txBody>
      </p:sp>
      <p:sp>
        <p:nvSpPr>
          <p:cNvPr id="18" name="Shape 16"/>
          <p:cNvSpPr/>
          <p:nvPr/>
        </p:nvSpPr>
        <p:spPr>
          <a:xfrm>
            <a:off x="4663440" y="2697480"/>
            <a:ext cx="4023360" cy="1600200"/>
          </a:xfrm>
          <a:prstGeom prst="roundRect">
            <a:avLst>
              <a:gd name="adj" fmla="val 5714"/>
            </a:avLst>
          </a:prstGeom>
          <a:solidFill>
            <a:srgbClr val="FFFFFF"/>
          </a:solidFill>
          <a:ln w="6350">
            <a:solidFill>
              <a:srgbClr val="DDDDEE"/>
            </a:solidFill>
            <a:prstDash val="solid"/>
          </a:ln>
        </p:spPr>
      </p:sp>
      <p:sp>
        <p:nvSpPr>
          <p:cNvPr id="19" name="Shape 17"/>
          <p:cNvSpPr/>
          <p:nvPr/>
        </p:nvSpPr>
        <p:spPr>
          <a:xfrm>
            <a:off x="4663440" y="2697480"/>
            <a:ext cx="109728" cy="1600200"/>
          </a:xfrm>
          <a:prstGeom prst="rect">
            <a:avLst/>
          </a:prstGeom>
          <a:solidFill>
            <a:srgbClr val="E07B39"/>
          </a:solidFill>
          <a:ln w="12700">
            <a:solidFill>
              <a:srgbClr val="E07B39"/>
            </a:solidFill>
            <a:prstDash val="solid"/>
          </a:ln>
        </p:spPr>
      </p:sp>
      <p:sp>
        <p:nvSpPr>
          <p:cNvPr id="20" name="Text 18"/>
          <p:cNvSpPr/>
          <p:nvPr/>
        </p:nvSpPr>
        <p:spPr>
          <a:xfrm>
            <a:off x="4937760" y="2788920"/>
            <a:ext cx="3566160" cy="365760"/>
          </a:xfrm>
          <a:prstGeom prst="rect">
            <a:avLst/>
          </a:prstGeom>
          <a:noFill/>
          <a:ln/>
        </p:spPr>
        <p:txBody>
          <a:bodyPr wrap="square" lIns="0" tIns="0" rIns="0" bIns="0" rtlCol="0" anchor="ctr"/>
          <a:lstStyle/>
          <a:p>
            <a:pPr indent="0" marL="0">
              <a:buNone/>
            </a:pPr>
            <a:r>
              <a:rPr lang="en-US" sz="1500" b="1" dirty="0">
                <a:solidFill>
                  <a:srgbClr val="4A3D8F"/>
                </a:solidFill>
              </a:rPr>
              <a:t>order</a:t>
            </a:r>
            <a:endParaRPr lang="en-US" sz="1500" dirty="0"/>
          </a:p>
        </p:txBody>
      </p:sp>
      <p:sp>
        <p:nvSpPr>
          <p:cNvPr id="21" name="Text 19"/>
          <p:cNvSpPr/>
          <p:nvPr/>
        </p:nvSpPr>
        <p:spPr>
          <a:xfrm>
            <a:off x="4937760" y="3200400"/>
            <a:ext cx="3566160" cy="960120"/>
          </a:xfrm>
          <a:prstGeom prst="rect">
            <a:avLst/>
          </a:prstGeom>
          <a:noFill/>
          <a:ln/>
        </p:spPr>
        <p:txBody>
          <a:bodyPr wrap="square" lIns="0" tIns="0" rIns="0" bIns="0" rtlCol="0" anchor="ctr"/>
          <a:lstStyle/>
          <a:p>
            <a:pPr indent="0" marL="0">
              <a:buNone/>
            </a:pPr>
            <a:r>
              <a:rPr lang="en-US" sz="1200" dirty="0">
                <a:solidFill>
                  <a:srgbClr val="1A1A2E"/>
                </a:solidFill>
              </a:rPr>
              <a:t>To arrange a set of numbers from least to greatest, or greatest to least.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Order Four Stadiums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Together · 4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6012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914400"/>
          </a:xfrm>
          <a:prstGeom prst="roundRect">
            <a:avLst>
              <a:gd name="adj" fmla="val 10000"/>
            </a:avLst>
          </a:prstGeom>
          <a:solidFill>
            <a:srgbClr val="FFFFFF"/>
          </a:solidFill>
          <a:ln w="6350">
            <a:solidFill>
              <a:srgbClr val="DDDDEE"/>
            </a:solidFill>
            <a:prstDash val="solid"/>
          </a:ln>
        </p:spPr>
      </p:sp>
      <p:sp>
        <p:nvSpPr>
          <p:cNvPr id="9" name="Text 7"/>
          <p:cNvSpPr/>
          <p:nvPr/>
        </p:nvSpPr>
        <p:spPr>
          <a:xfrm>
            <a:off x="640080" y="1371600"/>
            <a:ext cx="7863840" cy="914400"/>
          </a:xfrm>
          <a:prstGeom prst="rect">
            <a:avLst/>
          </a:prstGeom>
          <a:noFill/>
          <a:ln/>
        </p:spPr>
        <p:txBody>
          <a:bodyPr wrap="square" lIns="0" tIns="0" rIns="0" bIns="0" rtlCol="0" anchor="ctr"/>
          <a:lstStyle/>
          <a:p>
            <a:pPr algn="ctr" indent="0" marL="0">
              <a:buNone/>
            </a:pPr>
            <a:r>
              <a:rPr lang="en-US" sz="1500" b="1" dirty="0">
                <a:solidFill>
                  <a:srgbClr val="1A1A2E"/>
                </a:solidFill>
                <a:latin typeface="Cambria" pitchFamily="34" charset="0"/>
                <a:ea typeface="Cambria" pitchFamily="34" charset="-122"/>
                <a:cs typeface="Cambria" pitchFamily="34" charset="-120"/>
              </a:rPr>
              <a:t>647,210  ·  64,720  ·  647,120  ·  648,000  --  order least to greatest.</a:t>
            </a:r>
            <a:endParaRPr lang="en-US" sz="1500" dirty="0"/>
          </a:p>
        </p:txBody>
      </p:sp>
      <p:sp>
        <p:nvSpPr>
          <p:cNvPr id="10" name="Shape 8"/>
          <p:cNvSpPr/>
          <p:nvPr/>
        </p:nvSpPr>
        <p:spPr>
          <a:xfrm>
            <a:off x="457200" y="2423160"/>
            <a:ext cx="8229600" cy="640080"/>
          </a:xfrm>
          <a:prstGeom prst="roundRect">
            <a:avLst>
              <a:gd name="adj" fmla="val 14286"/>
            </a:avLst>
          </a:prstGeom>
          <a:solidFill>
            <a:srgbClr val="E6F2EA"/>
          </a:solidFill>
          <a:ln w="6350">
            <a:solidFill>
              <a:srgbClr val="DDDDEE"/>
            </a:solidFill>
            <a:prstDash val="solid"/>
          </a:ln>
        </p:spPr>
      </p:sp>
      <p:sp>
        <p:nvSpPr>
          <p:cNvPr id="11" name="Text 9"/>
          <p:cNvSpPr/>
          <p:nvPr/>
        </p:nvSpPr>
        <p:spPr>
          <a:xfrm>
            <a:off x="640080" y="2423160"/>
            <a:ext cx="7863840" cy="640080"/>
          </a:xfrm>
          <a:prstGeom prst="rect">
            <a:avLst/>
          </a:prstGeom>
          <a:noFill/>
          <a:ln/>
        </p:spPr>
        <p:txBody>
          <a:bodyPr wrap="square" lIns="0" tIns="0" rIns="0" bIns="0" rtlCol="0" anchor="ctr"/>
          <a:lstStyle/>
          <a:p>
            <a:pPr algn="ctr" indent="0" marL="0">
              <a:buNone/>
            </a:pPr>
            <a:r>
              <a:rPr lang="en-US" sz="1900" b="1" dirty="0">
                <a:solidFill>
                  <a:srgbClr val="1A6B5A"/>
                </a:solidFill>
                <a:latin typeface="Cambria" pitchFamily="34" charset="0"/>
                <a:ea typeface="Cambria" pitchFamily="34" charset="-122"/>
                <a:cs typeface="Cambria" pitchFamily="34" charset="-120"/>
              </a:rPr>
              <a:t>64,720  &lt;  647,120  &lt;  647,210  &lt;  648,000</a:t>
            </a:r>
            <a:endParaRPr lang="en-US" sz="1900" dirty="0"/>
          </a:p>
        </p:txBody>
      </p:sp>
      <p:sp>
        <p:nvSpPr>
          <p:cNvPr id="12" name="Shape 10"/>
          <p:cNvSpPr/>
          <p:nvPr/>
        </p:nvSpPr>
        <p:spPr>
          <a:xfrm>
            <a:off x="457200" y="3200400"/>
            <a:ext cx="8229600" cy="1051560"/>
          </a:xfrm>
          <a:prstGeom prst="roundRect">
            <a:avLst>
              <a:gd name="adj" fmla="val 8696"/>
            </a:avLst>
          </a:prstGeom>
          <a:solidFill>
            <a:srgbClr val="FEF6E4"/>
          </a:solidFill>
          <a:ln w="6350">
            <a:solidFill>
              <a:srgbClr val="DDDDEE"/>
            </a:solidFill>
            <a:prstDash val="solid"/>
          </a:ln>
        </p:spPr>
      </p:sp>
      <p:sp>
        <p:nvSpPr>
          <p:cNvPr id="13" name="Text 11"/>
          <p:cNvSpPr/>
          <p:nvPr/>
        </p:nvSpPr>
        <p:spPr>
          <a:xfrm>
            <a:off x="640080" y="3273552"/>
            <a:ext cx="7863840" cy="914400"/>
          </a:xfrm>
          <a:prstGeom prst="rect">
            <a:avLst/>
          </a:prstGeom>
          <a:noFill/>
          <a:ln/>
        </p:spPr>
        <p:txBody>
          <a:bodyPr wrap="square" lIns="0" tIns="0" rIns="0" bIns="0" rtlCol="0" anchor="ctr"/>
          <a:lstStyle/>
          <a:p>
            <a:pPr indent="0" marL="0">
              <a:buNone/>
            </a:pPr>
            <a:r>
              <a:rPr lang="en-US" sz="1200" dirty="0">
                <a:solidFill>
                  <a:srgbClr val="5A4A00"/>
                </a:solidFill>
                <a:latin typeface="Cambria" pitchFamily="34" charset="0"/>
                <a:ea typeface="Cambria" pitchFamily="34" charset="-122"/>
                <a:cs typeface="Cambria" pitchFamily="34" charset="-120"/>
              </a:rPr>
              <a:t>Step 1: 64,720 has only 5 digits -- park it first. Step 2: the other three tie until thousands (7,7,8) -- 648,000 is biggest. Step 3: the last two tie until hundreds (2 vs 1) -- 647,210 wins.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Find Riley's Mistake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Together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6012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1188720"/>
          </a:xfrm>
          <a:prstGeom prst="roundRect">
            <a:avLst>
              <a:gd name="adj" fmla="val 7692"/>
            </a:avLst>
          </a:prstGeom>
          <a:solidFill>
            <a:srgbClr val="FFF0E6"/>
          </a:solidFill>
          <a:ln w="6350">
            <a:solidFill>
              <a:srgbClr val="DDDDEE"/>
            </a:solidFill>
            <a:prstDash val="solid"/>
          </a:ln>
        </p:spPr>
      </p:sp>
      <p:sp>
        <p:nvSpPr>
          <p:cNvPr id="9" name="Text 7"/>
          <p:cNvSpPr/>
          <p:nvPr/>
        </p:nvSpPr>
        <p:spPr>
          <a:xfrm>
            <a:off x="640080" y="1444752"/>
            <a:ext cx="7863840" cy="1051560"/>
          </a:xfrm>
          <a:prstGeom prst="rect">
            <a:avLst/>
          </a:prstGeom>
          <a:noFill/>
          <a:ln/>
        </p:spPr>
        <p:txBody>
          <a:bodyPr wrap="square" lIns="0" tIns="0" rIns="0" bIns="0" rtlCol="0" anchor="ctr"/>
          <a:lstStyle/>
          <a:p>
            <a:pPr indent="0" marL="0">
              <a:buNone/>
            </a:pPr>
            <a:r>
              <a:rPr lang="en-US" sz="1400" i="1" dirty="0">
                <a:solidFill>
                  <a:srgbClr val="1A1A2E"/>
                </a:solidFill>
                <a:latin typeface="Cambria" pitchFamily="34" charset="0"/>
                <a:ea typeface="Cambria" pitchFamily="34" charset="-122"/>
                <a:cs typeface="Cambria" pitchFamily="34" charset="-120"/>
              </a:rPr>
              <a:t>Riley compared 65,890 and 658,900 and wrote:</a:t>
            </a:r>
            <a:endParaRPr lang="en-US" sz="1400" dirty="0"/>
          </a:p>
          <a:p>
            <a:pPr indent="0" marL="0">
              <a:buNone/>
            </a:pPr>
            <a:r>
              <a:rPr lang="en-US" sz="1400" i="1" dirty="0">
                <a:solidFill>
                  <a:srgbClr val="1A1A2E"/>
                </a:solidFill>
                <a:latin typeface="Cambria" pitchFamily="34" charset="0"/>
                <a:ea typeface="Cambria" pitchFamily="34" charset="-122"/>
                <a:cs typeface="Cambria" pitchFamily="34" charset="-120"/>
              </a:rPr>
              <a:t>"65,890 &gt; 658,900 -- sixty-five thousand SOUNDS bigger."</a:t>
            </a:r>
            <a:endParaRPr lang="en-US" sz="1400" dirty="0"/>
          </a:p>
        </p:txBody>
      </p:sp>
      <p:sp>
        <p:nvSpPr>
          <p:cNvPr id="10" name="Shape 8"/>
          <p:cNvSpPr/>
          <p:nvPr/>
        </p:nvSpPr>
        <p:spPr>
          <a:xfrm>
            <a:off x="457200" y="2697480"/>
            <a:ext cx="8229600" cy="1463040"/>
          </a:xfrm>
          <a:prstGeom prst="roundRect">
            <a:avLst>
              <a:gd name="adj" fmla="val 6250"/>
            </a:avLst>
          </a:prstGeom>
          <a:solidFill>
            <a:srgbClr val="E6F2EA"/>
          </a:solidFill>
          <a:ln w="6350">
            <a:solidFill>
              <a:srgbClr val="DDDDEE"/>
            </a:solidFill>
            <a:prstDash val="solid"/>
          </a:ln>
        </p:spPr>
      </p:sp>
      <p:sp>
        <p:nvSpPr>
          <p:cNvPr id="11" name="Text 9"/>
          <p:cNvSpPr/>
          <p:nvPr/>
        </p:nvSpPr>
        <p:spPr>
          <a:xfrm>
            <a:off x="640080" y="2788920"/>
            <a:ext cx="7863840" cy="128016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The fix: 65,890 has 5 digits. 658,900 has 6. More digits means bigger -- 658,900 is about ten times bigger. Riley let similar-looking digits trick her into skipping the digit count check.</a:t>
            </a:r>
            <a:endParaRPr lang="en-US" sz="1400" dirty="0"/>
          </a:p>
        </p:txBody>
      </p:sp>
      <p:sp>
        <p:nvSpPr>
          <p:cNvPr id="12" name="Shape 10"/>
          <p:cNvSpPr/>
          <p:nvPr/>
        </p:nvSpPr>
        <p:spPr>
          <a:xfrm>
            <a:off x="1371600" y="4297680"/>
            <a:ext cx="640080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1371600" y="429768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did Riley skip checking?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Your Turn: 84,250 vs 84,205</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Students Try · 4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457200" y="96012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YOUR TURN</a:t>
            </a:r>
            <a:endParaRPr lang="en-US" sz="800" dirty="0"/>
          </a:p>
        </p:txBody>
      </p:sp>
      <p:sp>
        <p:nvSpPr>
          <p:cNvPr id="8" name="Shape 6"/>
          <p:cNvSpPr/>
          <p:nvPr/>
        </p:nvSpPr>
        <p:spPr>
          <a:xfrm>
            <a:off x="457200" y="1371600"/>
            <a:ext cx="8229600" cy="1371600"/>
          </a:xfrm>
          <a:prstGeom prst="roundRect">
            <a:avLst>
              <a:gd name="adj" fmla="val 6667"/>
            </a:avLst>
          </a:prstGeom>
          <a:solidFill>
            <a:srgbClr val="FFFFFF"/>
          </a:solidFill>
          <a:ln w="6350">
            <a:solidFill>
              <a:srgbClr val="DDDDEE"/>
            </a:solidFill>
            <a:prstDash val="solid"/>
          </a:ln>
        </p:spPr>
      </p:sp>
      <p:sp>
        <p:nvSpPr>
          <p:cNvPr id="9" name="Text 7"/>
          <p:cNvSpPr/>
          <p:nvPr/>
        </p:nvSpPr>
        <p:spPr>
          <a:xfrm>
            <a:off x="685800" y="1463040"/>
            <a:ext cx="7772400" cy="118872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Compare 84,250 and 84,205. Which symbol goes between them -- and which place decided?</a:t>
            </a:r>
            <a:endParaRPr lang="en-US" sz="1600" dirty="0"/>
          </a:p>
        </p:txBody>
      </p:sp>
      <p:sp>
        <p:nvSpPr>
          <p:cNvPr id="10" name="Shape 8"/>
          <p:cNvSpPr/>
          <p:nvPr/>
        </p:nvSpPr>
        <p:spPr>
          <a:xfrm>
            <a:off x="1097280" y="3108960"/>
            <a:ext cx="694944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097280" y="310896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symbol + the deciding place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What Comes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377440"/>
          </a:xfrm>
          <a:prstGeom prst="roundRect">
            <a:avLst>
              <a:gd name="adj" fmla="val 3846"/>
            </a:avLst>
          </a:prstGeom>
          <a:solidFill>
            <a:srgbClr val="EAE8F5"/>
          </a:solidFill>
          <a:ln w="6350">
            <a:solidFill>
              <a:srgbClr val="DDDDEE"/>
            </a:solidFill>
            <a:prstDash val="solid"/>
          </a:ln>
        </p:spPr>
      </p:sp>
      <p:sp>
        <p:nvSpPr>
          <p:cNvPr id="7" name="Text 5"/>
          <p:cNvSpPr/>
          <p:nvPr/>
        </p:nvSpPr>
        <p:spPr>
          <a:xfrm>
            <a:off x="685800" y="1371600"/>
            <a:ext cx="7772400" cy="201168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Today you compared exact numbers by walking the chart. Next lesson, we round instead of comparing exactly -- when a newspaper says "about 24,000 fans," the exact number was probably 23,847.</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38,400  ___  38,040 -- which symbol, and what place decided?</a:t>
            </a:r>
            <a:endParaRPr lang="en-US" sz="2000" dirty="0"/>
          </a:p>
        </p:txBody>
      </p:sp>
      <p:sp>
        <p:nvSpPr>
          <p:cNvPr id="8" name="Shape 6"/>
          <p:cNvSpPr/>
          <p:nvPr/>
        </p:nvSpPr>
        <p:spPr>
          <a:xfrm>
            <a:off x="118872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11887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&gt;</a:t>
            </a:r>
            <a:endParaRPr lang="en-US" sz="2000" dirty="0"/>
          </a:p>
        </p:txBody>
      </p:sp>
      <p:sp>
        <p:nvSpPr>
          <p:cNvPr id="10" name="Shape 8"/>
          <p:cNvSpPr/>
          <p:nvPr/>
        </p:nvSpPr>
        <p:spPr>
          <a:xfrm>
            <a:off x="310896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310896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&lt;</a:t>
            </a:r>
            <a:endParaRPr lang="en-US" sz="2000" dirty="0"/>
          </a:p>
        </p:txBody>
      </p:sp>
      <p:sp>
        <p:nvSpPr>
          <p:cNvPr id="12" name="Shape 10"/>
          <p:cNvSpPr/>
          <p:nvPr/>
        </p:nvSpPr>
        <p:spPr>
          <a:xfrm>
            <a:off x="502920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0292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a:t>
            </a:r>
            <a:endParaRPr lang="en-US" sz="2000" dirty="0"/>
          </a:p>
        </p:txBody>
      </p:sp>
      <p:sp>
        <p:nvSpPr>
          <p:cNvPr id="14" name="Shape 12"/>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5" name="Text 13"/>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symbol + the deciding place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38,400  ___  38,040 -- which symbol, and what place decided?</a:t>
            </a:r>
            <a:endParaRPr lang="en-US" sz="2000" dirty="0"/>
          </a:p>
        </p:txBody>
      </p:sp>
      <p:sp>
        <p:nvSpPr>
          <p:cNvPr id="8" name="Shape 6"/>
          <p:cNvSpPr/>
          <p:nvPr/>
        </p:nvSpPr>
        <p:spPr>
          <a:xfrm>
            <a:off x="1188720" y="2103120"/>
            <a:ext cx="173736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118872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&gt;</a:t>
            </a:r>
            <a:endParaRPr lang="en-US" sz="2000" dirty="0"/>
          </a:p>
        </p:txBody>
      </p:sp>
      <p:sp>
        <p:nvSpPr>
          <p:cNvPr id="10" name="Shape 8"/>
          <p:cNvSpPr/>
          <p:nvPr/>
        </p:nvSpPr>
        <p:spPr>
          <a:xfrm>
            <a:off x="310896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310896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&lt;</a:t>
            </a:r>
            <a:endParaRPr lang="en-US" sz="2000" dirty="0"/>
          </a:p>
        </p:txBody>
      </p:sp>
      <p:sp>
        <p:nvSpPr>
          <p:cNvPr id="12" name="Shape 10"/>
          <p:cNvSpPr/>
          <p:nvPr/>
        </p:nvSpPr>
        <p:spPr>
          <a:xfrm>
            <a:off x="502920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50292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a:t>
            </a:r>
            <a:endParaRPr lang="en-US" sz="2000" dirty="0"/>
          </a:p>
        </p:txBody>
      </p:sp>
      <p:sp>
        <p:nvSpPr>
          <p:cNvPr id="14" name="Text 12"/>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Ten-thousands and thousands tie (3, 8). Hundreds: 4 vs 0 -- the first argument. 4 &gt; 0, so 38,400 &gt; 38,040.</a:t>
            </a:r>
            <a:endParaRPr lang="en-US" sz="1200" dirty="0"/>
          </a:p>
        </p:txBody>
      </p:sp>
      <p:sp>
        <p:nvSpPr>
          <p:cNvPr id="15" name="Shape 13"/>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6" name="Text 14"/>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symbol + the deciding place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that stacking two numbers by place turns a hard comparison into an easy one -- I just scan left to right until a column disagrees, and I never have to look past it.</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the digit-count shortcut first, every time. If one number has more digits than the other, I'm done before I even read them closely.</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greater-than and less-than symbols like an alligator's mouth, always opening wide toward the bigger number, no matter which side it's written on.</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Here is the precise way to say it: the leftmost place-value position where two numbers differ determines which number is greater, regardless of the digits in any place to its right.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matches your thinking -- Felix or Atlas?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for Lesson 4.01.04</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Find two real numbers (prices, distances, populations) and compare them using the chart-walk</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Next class: round big numbers instead of comparing them exactly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4.01.04 Comparing and Ordering Numbers — Teacher Slides</dc:title>
  <dc:subject>PptxGenJS Presentation</dc:subject>
  <dc:creator>PptxGenJS</dc:creator>
  <cp:lastModifiedBy>PptxGenJS</cp:lastModifiedBy>
  <cp:revision>1</cp:revision>
  <dcterms:created xsi:type="dcterms:W3CDTF">2026-07-13T19:03:40Z</dcterms:created>
  <dcterms:modified xsi:type="dcterms:W3CDTF">2026-07-13T19:03:40Z</dcterms:modified>
</cp:coreProperties>
</file>